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78647df504907" /><Relationship Type="http://schemas.openxmlformats.org/officeDocument/2006/relationships/extended-properties" Target="/docProps/app.xml" Id="R16a94414768e4be7" /><Relationship Type="http://schemas.openxmlformats.org/officeDocument/2006/relationships/officeDocument" Target="/ppt/presentation.xml" Id="Ra6fb0a59e44744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7cffe11b85442d"/>
  </p:sldMasterIdLst>
  <p:notesMasterIdLst>
    <p:notesMasterId xmlns:r="http://schemas.openxmlformats.org/officeDocument/2006/relationships" r:id="Re23dc92b85c94367"/>
  </p:notesMasterIdLst>
  <p:sldIdLst>
    <p:sldId xmlns:r="http://schemas.openxmlformats.org/officeDocument/2006/relationships" id="256" r:id="Rb2a9be20e39642cb"/>
    <p:sldId xmlns:r="http://schemas.openxmlformats.org/officeDocument/2006/relationships" id="257" r:id="Rb60a7443cabf47a6"/>
    <p:sldId xmlns:r="http://schemas.openxmlformats.org/officeDocument/2006/relationships" id="258" r:id="Rf10732671834470a"/>
    <p:sldId xmlns:r="http://schemas.openxmlformats.org/officeDocument/2006/relationships" id="259" r:id="Rc1e3bf86fdf24568"/>
    <p:sldId xmlns:r="http://schemas.openxmlformats.org/officeDocument/2006/relationships" id="260" r:id="R2b3e67f247664496"/>
    <p:sldId xmlns:r="http://schemas.openxmlformats.org/officeDocument/2006/relationships" id="261" r:id="R6fc80af48d784677"/>
    <p:sldId xmlns:r="http://schemas.openxmlformats.org/officeDocument/2006/relationships" id="262" r:id="R9fc9c2c7394d496e"/>
    <p:sldId xmlns:r="http://schemas.openxmlformats.org/officeDocument/2006/relationships" id="263" r:id="R9cac4996dcf14caf"/>
    <p:sldId xmlns:r="http://schemas.openxmlformats.org/officeDocument/2006/relationships" id="264" r:id="R0e6e18d6f15b461e"/>
    <p:sldId xmlns:r="http://schemas.openxmlformats.org/officeDocument/2006/relationships" id="265" r:id="R797b7f89f4d54c3a"/>
    <p:sldId xmlns:r="http://schemas.openxmlformats.org/officeDocument/2006/relationships" id="266" r:id="Rc58bce1210824bbe"/>
    <p:sldId xmlns:r="http://schemas.openxmlformats.org/officeDocument/2006/relationships" id="267" r:id="R81af82660de44f86"/>
    <p:sldId xmlns:r="http://schemas.openxmlformats.org/officeDocument/2006/relationships" id="268" r:id="R0d635abb3bf043e5"/>
    <p:sldId xmlns:r="http://schemas.openxmlformats.org/officeDocument/2006/relationships" id="269" r:id="Re38a30b85bae4c7e"/>
    <p:sldId xmlns:r="http://schemas.openxmlformats.org/officeDocument/2006/relationships" id="270" r:id="R19c078f63d9943dc"/>
    <p:sldId xmlns:r="http://schemas.openxmlformats.org/officeDocument/2006/relationships" id="271" r:id="R7a37abea77114636"/>
    <p:sldId xmlns:r="http://schemas.openxmlformats.org/officeDocument/2006/relationships" id="272" r:id="R33dc67139deb4b53"/>
    <p:sldId xmlns:r="http://schemas.openxmlformats.org/officeDocument/2006/relationships" id="273" r:id="R0ded059d6cdd4849"/>
    <p:sldId xmlns:r="http://schemas.openxmlformats.org/officeDocument/2006/relationships" id="274" r:id="Rae395179c8c74df1"/>
    <p:sldId xmlns:r="http://schemas.openxmlformats.org/officeDocument/2006/relationships" id="275" r:id="Rccf866f5c7a54dc4"/>
    <p:sldId xmlns:r="http://schemas.openxmlformats.org/officeDocument/2006/relationships" id="276" r:id="R4646a2706bd14b27"/>
    <p:sldId xmlns:r="http://schemas.openxmlformats.org/officeDocument/2006/relationships" id="277" r:id="Rda06f7f1ad8a49ac"/>
    <p:sldId xmlns:r="http://schemas.openxmlformats.org/officeDocument/2006/relationships" id="278" r:id="R173c00bf88ab41b7"/>
    <p:sldId xmlns:r="http://schemas.openxmlformats.org/officeDocument/2006/relationships" id="279" r:id="R312cae3e649a452b"/>
    <p:sldId xmlns:r="http://schemas.openxmlformats.org/officeDocument/2006/relationships" id="280" r:id="Rc03b8cc365ff420e"/>
    <p:sldId xmlns:r="http://schemas.openxmlformats.org/officeDocument/2006/relationships" id="281" r:id="R8ac6d4634e7d4960"/>
    <p:sldId xmlns:r="http://schemas.openxmlformats.org/officeDocument/2006/relationships" id="282" r:id="Rca0aa3d20687441b"/>
    <p:sldId xmlns:r="http://schemas.openxmlformats.org/officeDocument/2006/relationships" id="283" r:id="Rf00642803328461e"/>
    <p:sldId xmlns:r="http://schemas.openxmlformats.org/officeDocument/2006/relationships" id="284" r:id="Rb399e4efb29e47d1"/>
    <p:sldId xmlns:r="http://schemas.openxmlformats.org/officeDocument/2006/relationships" id="285" r:id="R453fe919d4ad43e7"/>
    <p:sldId xmlns:r="http://schemas.openxmlformats.org/officeDocument/2006/relationships" id="286" r:id="R4eebbf22f23643ff"/>
    <p:sldId xmlns:r="http://schemas.openxmlformats.org/officeDocument/2006/relationships" id="287" r:id="Ra77ac56520134478"/>
    <p:sldId xmlns:r="http://schemas.openxmlformats.org/officeDocument/2006/relationships" id="288" r:id="Rb7acf2be77e640c8"/>
    <p:sldId xmlns:r="http://schemas.openxmlformats.org/officeDocument/2006/relationships" id="289" r:id="R6a53b63239ac490e"/>
    <p:sldId xmlns:r="http://schemas.openxmlformats.org/officeDocument/2006/relationships" id="290" r:id="Rfe41fc801d0945c0"/>
    <p:sldId xmlns:r="http://schemas.openxmlformats.org/officeDocument/2006/relationships" id="291" r:id="R21d1f7f8e1314a4a"/>
    <p:sldId xmlns:r="http://schemas.openxmlformats.org/officeDocument/2006/relationships" id="292" r:id="R170808d4ab2d4128"/>
    <p:sldId xmlns:r="http://schemas.openxmlformats.org/officeDocument/2006/relationships" id="293" r:id="Rcb0798da0a574849"/>
    <p:sldId xmlns:r="http://schemas.openxmlformats.org/officeDocument/2006/relationships" id="294" r:id="R2580991074394ff4"/>
    <p:sldId xmlns:r="http://schemas.openxmlformats.org/officeDocument/2006/relationships" id="295" r:id="R1e2ee56f6d174f44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25b2e56b5840d3" /><Relationship Type="http://schemas.openxmlformats.org/officeDocument/2006/relationships/slideMaster" Target="/ppt/slideMasters/slideMaster1.xml" Id="Rd97cffe11b85442d" /><Relationship Type="http://schemas.openxmlformats.org/officeDocument/2006/relationships/notesMaster" Target="/ppt/notesMasters/notesMaster1.xml" Id="Re23dc92b85c94367" /><Relationship Type="http://schemas.openxmlformats.org/officeDocument/2006/relationships/presProps" Target="/ppt/presProps.xml" Id="R5300d6c71efe4177" /><Relationship Type="http://schemas.openxmlformats.org/officeDocument/2006/relationships/tableStyles" Target="/ppt/tableStyles.xml" Id="R12959c3bb3564858" /><Relationship Type="http://schemas.openxmlformats.org/officeDocument/2006/relationships/slide" Target="/ppt/slides/slide1.xml" Id="Rb2a9be20e39642cb" /><Relationship Type="http://schemas.openxmlformats.org/officeDocument/2006/relationships/slide" Target="/ppt/slides/slide2.xml" Id="Rb60a7443cabf47a6" /><Relationship Type="http://schemas.openxmlformats.org/officeDocument/2006/relationships/slide" Target="/ppt/slides/slide3.xml" Id="Rf10732671834470a" /><Relationship Type="http://schemas.openxmlformats.org/officeDocument/2006/relationships/slide" Target="/ppt/slides/slide4.xml" Id="Rc1e3bf86fdf24568" /><Relationship Type="http://schemas.openxmlformats.org/officeDocument/2006/relationships/slide" Target="/ppt/slides/slide5.xml" Id="R2b3e67f247664496" /><Relationship Type="http://schemas.openxmlformats.org/officeDocument/2006/relationships/slide" Target="/ppt/slides/slide6.xml" Id="R6fc80af48d784677" /><Relationship Type="http://schemas.openxmlformats.org/officeDocument/2006/relationships/slide" Target="/ppt/slides/slide7.xml" Id="R9fc9c2c7394d496e" /><Relationship Type="http://schemas.openxmlformats.org/officeDocument/2006/relationships/slide" Target="/ppt/slides/slide8.xml" Id="R9cac4996dcf14caf" /><Relationship Type="http://schemas.openxmlformats.org/officeDocument/2006/relationships/slide" Target="/ppt/slides/slide9.xml" Id="R0e6e18d6f15b461e" /><Relationship Type="http://schemas.openxmlformats.org/officeDocument/2006/relationships/slide" Target="/ppt/slides/slide10.xml" Id="R797b7f89f4d54c3a" /><Relationship Type="http://schemas.openxmlformats.org/officeDocument/2006/relationships/slide" Target="/ppt/slides/slide11.xml" Id="Rc58bce1210824bbe" /><Relationship Type="http://schemas.openxmlformats.org/officeDocument/2006/relationships/slide" Target="/ppt/slides/slide12.xml" Id="R81af82660de44f86" /><Relationship Type="http://schemas.openxmlformats.org/officeDocument/2006/relationships/slide" Target="/ppt/slides/slide13.xml" Id="R0d635abb3bf043e5" /><Relationship Type="http://schemas.openxmlformats.org/officeDocument/2006/relationships/slide" Target="/ppt/slides/slide14.xml" Id="Re38a30b85bae4c7e" /><Relationship Type="http://schemas.openxmlformats.org/officeDocument/2006/relationships/slide" Target="/ppt/slides/slide15.xml" Id="R19c078f63d9943dc" /><Relationship Type="http://schemas.openxmlformats.org/officeDocument/2006/relationships/slide" Target="/ppt/slides/slide16.xml" Id="R7a37abea77114636" /><Relationship Type="http://schemas.openxmlformats.org/officeDocument/2006/relationships/slide" Target="/ppt/slides/slide17.xml" Id="R33dc67139deb4b53" /><Relationship Type="http://schemas.openxmlformats.org/officeDocument/2006/relationships/slide" Target="/ppt/slides/slide18.xml" Id="R0ded059d6cdd4849" /><Relationship Type="http://schemas.openxmlformats.org/officeDocument/2006/relationships/slide" Target="/ppt/slides/slide19.xml" Id="Rae395179c8c74df1" /><Relationship Type="http://schemas.openxmlformats.org/officeDocument/2006/relationships/slide" Target="/ppt/slides/slide20.xml" Id="Rccf866f5c7a54dc4" /><Relationship Type="http://schemas.openxmlformats.org/officeDocument/2006/relationships/slide" Target="/ppt/slides/slide21.xml" Id="R4646a2706bd14b27" /><Relationship Type="http://schemas.openxmlformats.org/officeDocument/2006/relationships/slide" Target="/ppt/slides/slide22.xml" Id="Rda06f7f1ad8a49ac" /><Relationship Type="http://schemas.openxmlformats.org/officeDocument/2006/relationships/slide" Target="/ppt/slides/slide23.xml" Id="R173c00bf88ab41b7" /><Relationship Type="http://schemas.openxmlformats.org/officeDocument/2006/relationships/slide" Target="/ppt/slides/slide24.xml" Id="R312cae3e649a452b" /><Relationship Type="http://schemas.openxmlformats.org/officeDocument/2006/relationships/slide" Target="/ppt/slides/slide25.xml" Id="Rc03b8cc365ff420e" /><Relationship Type="http://schemas.openxmlformats.org/officeDocument/2006/relationships/slide" Target="/ppt/slides/slide26.xml" Id="R8ac6d4634e7d4960" /><Relationship Type="http://schemas.openxmlformats.org/officeDocument/2006/relationships/slide" Target="/ppt/slides/slide27.xml" Id="Rca0aa3d20687441b" /><Relationship Type="http://schemas.openxmlformats.org/officeDocument/2006/relationships/slide" Target="/ppt/slides/slide28.xml" Id="Rf00642803328461e" /><Relationship Type="http://schemas.openxmlformats.org/officeDocument/2006/relationships/slide" Target="/ppt/slides/slide29.xml" Id="Rb399e4efb29e47d1" /><Relationship Type="http://schemas.openxmlformats.org/officeDocument/2006/relationships/slide" Target="/ppt/slides/slide30.xml" Id="R453fe919d4ad43e7" /><Relationship Type="http://schemas.openxmlformats.org/officeDocument/2006/relationships/slide" Target="/ppt/slides/slide31.xml" Id="R4eebbf22f23643ff" /><Relationship Type="http://schemas.openxmlformats.org/officeDocument/2006/relationships/slide" Target="/ppt/slides/slide32.xml" Id="Ra77ac56520134478" /><Relationship Type="http://schemas.openxmlformats.org/officeDocument/2006/relationships/slide" Target="/ppt/slides/slide33.xml" Id="Rb7acf2be77e640c8" /><Relationship Type="http://schemas.openxmlformats.org/officeDocument/2006/relationships/slide" Target="/ppt/slides/slide34.xml" Id="R6a53b63239ac490e" /><Relationship Type="http://schemas.openxmlformats.org/officeDocument/2006/relationships/slide" Target="/ppt/slides/slide35.xml" Id="Rfe41fc801d0945c0" /><Relationship Type="http://schemas.openxmlformats.org/officeDocument/2006/relationships/slide" Target="/ppt/slides/slide36.xml" Id="R21d1f7f8e1314a4a" /><Relationship Type="http://schemas.openxmlformats.org/officeDocument/2006/relationships/slide" Target="/ppt/slides/slide37.xml" Id="R170808d4ab2d4128" /><Relationship Type="http://schemas.openxmlformats.org/officeDocument/2006/relationships/slide" Target="/ppt/slides/slide38.xml" Id="Rcb0798da0a574849" /><Relationship Type="http://schemas.openxmlformats.org/officeDocument/2006/relationships/slide" Target="/ppt/slides/slide39.xml" Id="R2580991074394ff4" /><Relationship Type="http://schemas.openxmlformats.org/officeDocument/2006/relationships/slide" Target="/ppt/slides/slide40.xml" Id="R1e2ee56f6d174f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46f80afb64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rewmori">
      <a:dk1>
        <a:srgbClr val="202A25"/>
      </a:dk1>
      <a:lt1>
        <a:srgbClr val="FFFFFF"/>
      </a:lt1>
      <a:dk2>
        <a:srgbClr val="245C47"/>
      </a:dk2>
      <a:lt2>
        <a:srgbClr val="F5F3EC"/>
      </a:lt2>
      <a:accent1>
        <a:srgbClr val="245C47"/>
      </a:accent1>
      <a:accent2>
        <a:srgbClr val="F2C983"/>
      </a:accent2>
      <a:accent3>
        <a:srgbClr val="EFAF9B"/>
      </a:accent3>
      <a:accent4>
        <a:srgbClr val="B9D8EC"/>
      </a:accent4>
      <a:accent5>
        <a:srgbClr val="D3C6E7"/>
      </a:accent5>
      <a:accent6>
        <a:srgbClr val="C6D4B5"/>
      </a:accent6>
      <a:hlink>
        <a:srgbClr val="245C47"/>
      </a:hlink>
      <a:folHlink>
        <a:srgbClr val="566159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rewmor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5553918ac4aa9" /><Relationship Type="http://schemas.openxmlformats.org/officeDocument/2006/relationships/notesMaster" Target="/ppt/notesMasters/notesMaster1.xml" Id="Rc11388d4813a4c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3702db29654cef" /><Relationship Type="http://schemas.openxmlformats.org/officeDocument/2006/relationships/notesMaster" Target="/ppt/notesMasters/notesMaster1.xml" Id="Rbd8e695dd599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60df5745a74c51" /><Relationship Type="http://schemas.openxmlformats.org/officeDocument/2006/relationships/notesMaster" Target="/ppt/notesMasters/notesMaster1.xml" Id="R8bc8615c31b140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be29ceac9c4e5b" /><Relationship Type="http://schemas.openxmlformats.org/officeDocument/2006/relationships/notesMaster" Target="/ppt/notesMasters/notesMaster1.xml" Id="Rbbe2264a57254f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1af03a0d7d4387" /><Relationship Type="http://schemas.openxmlformats.org/officeDocument/2006/relationships/notesMaster" Target="/ppt/notesMasters/notesMaster1.xml" Id="R0f3f059aa8f44f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dcba47bb734ab0" /><Relationship Type="http://schemas.openxmlformats.org/officeDocument/2006/relationships/notesMaster" Target="/ppt/notesMasters/notesMaster1.xml" Id="Rcd3b9ed1cfcb4f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a52329d8cf46e8" /><Relationship Type="http://schemas.openxmlformats.org/officeDocument/2006/relationships/notesMaster" Target="/ppt/notesMasters/notesMaster1.xml" Id="R5179cadb72f746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951f6e602448a2" /><Relationship Type="http://schemas.openxmlformats.org/officeDocument/2006/relationships/notesMaster" Target="/ppt/notesMasters/notesMaster1.xml" Id="Rf07980508ddf4f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73f22c0d7e478c" /><Relationship Type="http://schemas.openxmlformats.org/officeDocument/2006/relationships/notesMaster" Target="/ppt/notesMasters/notesMaster1.xml" Id="Rc03e3d3b91654a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d04fadb2284296" /><Relationship Type="http://schemas.openxmlformats.org/officeDocument/2006/relationships/notesMaster" Target="/ppt/notesMasters/notesMaster1.xml" Id="R713d4f71032a4d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dc3122103c49c5" /><Relationship Type="http://schemas.openxmlformats.org/officeDocument/2006/relationships/notesMaster" Target="/ppt/notesMasters/notesMaster1.xml" Id="R2a496c42e61740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28e860c95c487b" /><Relationship Type="http://schemas.openxmlformats.org/officeDocument/2006/relationships/notesMaster" Target="/ppt/notesMasters/notesMaster1.xml" Id="R420139b66efd46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3bf8edee824106" /><Relationship Type="http://schemas.openxmlformats.org/officeDocument/2006/relationships/notesMaster" Target="/ppt/notesMasters/notesMaster1.xml" Id="R1d805a24bdde4a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20d82e179e4c58" /><Relationship Type="http://schemas.openxmlformats.org/officeDocument/2006/relationships/notesMaster" Target="/ppt/notesMasters/notesMaster1.xml" Id="R31cef6ba76cc4a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cc9932b3644a37" /><Relationship Type="http://schemas.openxmlformats.org/officeDocument/2006/relationships/notesMaster" Target="/ppt/notesMasters/notesMaster1.xml" Id="R86847adc45d044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249f1135894892" /><Relationship Type="http://schemas.openxmlformats.org/officeDocument/2006/relationships/notesMaster" Target="/ppt/notesMasters/notesMaster1.xml" Id="R91c9dc82234144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1fc1935d0a485e" /><Relationship Type="http://schemas.openxmlformats.org/officeDocument/2006/relationships/notesMaster" Target="/ppt/notesMasters/notesMaster1.xml" Id="R6826a4d5e31448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ab06e98cdc422b" /><Relationship Type="http://schemas.openxmlformats.org/officeDocument/2006/relationships/notesMaster" Target="/ppt/notesMasters/notesMaster1.xml" Id="R359ffaa9958c48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3ee7b0ffb54ef0" /><Relationship Type="http://schemas.openxmlformats.org/officeDocument/2006/relationships/notesMaster" Target="/ppt/notesMasters/notesMaster1.xml" Id="R83fe669c36024d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1c01f459eb41e5" /><Relationship Type="http://schemas.openxmlformats.org/officeDocument/2006/relationships/notesMaster" Target="/ppt/notesMasters/notesMaster1.xml" Id="R6787b3c9fc6c42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0333da179045cc" /><Relationship Type="http://schemas.openxmlformats.org/officeDocument/2006/relationships/notesMaster" Target="/ppt/notesMasters/notesMaster1.xml" Id="Reae2a0119a5b48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9ef38ac66041b1" /><Relationship Type="http://schemas.openxmlformats.org/officeDocument/2006/relationships/notesMaster" Target="/ppt/notesMasters/notesMaster1.xml" Id="Re6984498713b422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8b35a5d0ff24a3b" /><Relationship Type="http://schemas.openxmlformats.org/officeDocument/2006/relationships/notesMaster" Target="/ppt/notesMasters/notesMaster1.xml" Id="Rf8acd940998b41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8ba64b831ed401f" /><Relationship Type="http://schemas.openxmlformats.org/officeDocument/2006/relationships/notesMaster" Target="/ppt/notesMasters/notesMaster1.xml" Id="R08af39e6007b45a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b5316d70bcc432d" /><Relationship Type="http://schemas.openxmlformats.org/officeDocument/2006/relationships/notesMaster" Target="/ppt/notesMasters/notesMaster1.xml" Id="Rf07eb9b457034d8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ddd823b8b74dfa" /><Relationship Type="http://schemas.openxmlformats.org/officeDocument/2006/relationships/notesMaster" Target="/ppt/notesMasters/notesMaster1.xml" Id="Rc64a2981a69a416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1009cb906a441d1" /><Relationship Type="http://schemas.openxmlformats.org/officeDocument/2006/relationships/notesMaster" Target="/ppt/notesMasters/notesMaster1.xml" Id="Raaf40d191c7449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51a5e419924972" /><Relationship Type="http://schemas.openxmlformats.org/officeDocument/2006/relationships/notesMaster" Target="/ppt/notesMasters/notesMaster1.xml" Id="Rdbae5327b0cd4f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210e775b794400" /><Relationship Type="http://schemas.openxmlformats.org/officeDocument/2006/relationships/notesMaster" Target="/ppt/notesMasters/notesMaster1.xml" Id="R74b34c4192244e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d8f561034649bb" /><Relationship Type="http://schemas.openxmlformats.org/officeDocument/2006/relationships/notesMaster" Target="/ppt/notesMasters/notesMaster1.xml" Id="R6dabb98fc3aa4c7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0e487856ab2490e" /><Relationship Type="http://schemas.openxmlformats.org/officeDocument/2006/relationships/notesMaster" Target="/ppt/notesMasters/notesMaster1.xml" Id="R355b8f34060040b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14942440704b11" /><Relationship Type="http://schemas.openxmlformats.org/officeDocument/2006/relationships/notesMaster" Target="/ppt/notesMasters/notesMaster1.xml" Id="R8a48ea57be5641a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20d508eae7c462c" /><Relationship Type="http://schemas.openxmlformats.org/officeDocument/2006/relationships/notesMaster" Target="/ppt/notesMasters/notesMaster1.xml" Id="R5ecfa8c6207a451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4d1af7089324336" /><Relationship Type="http://schemas.openxmlformats.org/officeDocument/2006/relationships/notesMaster" Target="/ppt/notesMasters/notesMaster1.xml" Id="R750ff7125ed443f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06bc2e16da04cf3" /><Relationship Type="http://schemas.openxmlformats.org/officeDocument/2006/relationships/notesMaster" Target="/ppt/notesMasters/notesMaster1.xml" Id="R089199258b16423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860aca73f6b484e" /><Relationship Type="http://schemas.openxmlformats.org/officeDocument/2006/relationships/notesMaster" Target="/ppt/notesMasters/notesMaster1.xml" Id="Rb66e017c70e844d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1a4c34462ec4b39" /><Relationship Type="http://schemas.openxmlformats.org/officeDocument/2006/relationships/notesMaster" Target="/ppt/notesMasters/notesMaster1.xml" Id="R03a875f86e81438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ce6e52e4b2749cc" /><Relationship Type="http://schemas.openxmlformats.org/officeDocument/2006/relationships/notesMaster" Target="/ppt/notesMasters/notesMaster1.xml" Id="Re583a1af6ecb409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2c7c0267f1343fb" /><Relationship Type="http://schemas.openxmlformats.org/officeDocument/2006/relationships/notesMaster" Target="/ppt/notesMasters/notesMaster1.xml" Id="Rd2d72f31da814b7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6cce1c78776417d" /><Relationship Type="http://schemas.openxmlformats.org/officeDocument/2006/relationships/notesMaster" Target="/ppt/notesMasters/notesMaster1.xml" Id="R3998dfd92aa44a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Crewmori identity guidelines v1.0, 16 October 2026. Original brand rules for the selected 02 Working Seam concept. Product basis: supplied handoff 00_START_HERE.md, 01_PRD.md and 06_DESIGN_AND_INTERACTIONS.md. Layout-depth reference: uploaded Brand Guideline 2026 PDF. Application examples are illustrative sample data, not live product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6346f1e444c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58ae144014c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38fa89d8547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22bf6381448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506116db545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d5f8f061745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D2D47F-A3C6-447A-B4D4-764D20A97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A0E1F3-4034-4239-8B96-1172A268BB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48F883-91FA-49A9-85FF-EC31E5F0CC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34BB05-6AC5-4777-807D-A509E2F2A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A7161F-2A6D-4534-9276-CD0A09F68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250121-C088-4B9D-85E0-301D69476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1C1707-B258-4CF2-94BF-FA4BB1D222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21B0F5-EA43-4034-85EA-328391C318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6F4836-ECFD-4CA9-BDFF-3DFF1E0C88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DF45DE-0A2F-434C-8F8E-C1DD8D8C31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803edafbf4e58" /><Relationship Type="http://schemas.openxmlformats.org/officeDocument/2006/relationships/slideLayout" Target="/ppt/slideLayouts/slideLayout1.xml" Id="R6afc7bfe1af44325" /><Relationship Type="http://schemas.openxmlformats.org/officeDocument/2006/relationships/slideLayout" Target="/ppt/slideLayouts/slideLayout2.xml" Id="R46770b30e691412e" /><Relationship Type="http://schemas.openxmlformats.org/officeDocument/2006/relationships/slideLayout" Target="/ppt/slideLayouts/slideLayout3.xml" Id="Rbebc4027e5bf4b57" /><Relationship Type="http://schemas.openxmlformats.org/officeDocument/2006/relationships/slideLayout" Target="/ppt/slideLayouts/slideLayout4.xml" Id="Rafc01fd01c5c45e4" /><Relationship Type="http://schemas.openxmlformats.org/officeDocument/2006/relationships/slideLayout" Target="/ppt/slideLayouts/slideLayout5.xml" Id="R3db3ed08d11f4397" /><Relationship Type="http://schemas.openxmlformats.org/officeDocument/2006/relationships/slideLayout" Target="/ppt/slideLayouts/slideLayout6.xml" Id="Rf6af45e57bb748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c7bfe1af44325"/>
    <p:sldLayoutId xmlns:r="http://schemas.openxmlformats.org/officeDocument/2006/relationships" id="2147483650" r:id="R46770b30e691412e"/>
    <p:sldLayoutId xmlns:r="http://schemas.openxmlformats.org/officeDocument/2006/relationships" id="2147483651" r:id="Rbebc4027e5bf4b57"/>
    <p:sldLayoutId xmlns:r="http://schemas.openxmlformats.org/officeDocument/2006/relationships" id="2147483652" r:id="Rafc01fd01c5c45e4"/>
    <p:sldLayoutId xmlns:r="http://schemas.openxmlformats.org/officeDocument/2006/relationships" id="2147483653" r:id="R3db3ed08d11f4397"/>
    <p:sldLayoutId xmlns:r="http://schemas.openxmlformats.org/officeDocument/2006/relationships" id="2147483654" r:id="Rf6af45e57bb748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rewmori">
      <a:dk1>
        <a:srgbClr val="202A25"/>
      </a:dk1>
      <a:lt1>
        <a:srgbClr val="FFFFFF"/>
      </a:lt1>
      <a:dk2>
        <a:srgbClr val="245C47"/>
      </a:dk2>
      <a:lt2>
        <a:srgbClr val="F5F3EC"/>
      </a:lt2>
      <a:accent1>
        <a:srgbClr val="245C47"/>
      </a:accent1>
      <a:accent2>
        <a:srgbClr val="F2C983"/>
      </a:accent2>
      <a:accent3>
        <a:srgbClr val="EFAF9B"/>
      </a:accent3>
      <a:accent4>
        <a:srgbClr val="B9D8EC"/>
      </a:accent4>
      <a:accent5>
        <a:srgbClr val="D3C6E7"/>
      </a:accent5>
      <a:accent6>
        <a:srgbClr val="C6D4B5"/>
      </a:accent6>
      <a:hlink>
        <a:srgbClr val="245C47"/>
      </a:hlink>
      <a:folHlink>
        <a:srgbClr val="566159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rewmor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87301c34642ac" /><Relationship Type="http://schemas.openxmlformats.org/officeDocument/2006/relationships/image" Target="/ppt/media/image.png" Id="Rb37c9b2004804147" /><Relationship Type="http://schemas.openxmlformats.org/officeDocument/2006/relationships/image" Target="/ppt/media/image.svg" Id="Rb107c6eb542f451d" /><Relationship Type="http://schemas.openxmlformats.org/officeDocument/2006/relationships/notesSlide" Target="/ppt/notesSlides/notesSlide1.xml" Id="Rf0b1aab6ebe24b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41d6741254b0e" /><Relationship Type="http://schemas.openxmlformats.org/officeDocument/2006/relationships/notesSlide" Target="/ppt/notesSlides/notesSlide2.xml" Id="R3e7d3526513c47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135a393bb4323" /><Relationship Type="http://schemas.openxmlformats.org/officeDocument/2006/relationships/notesSlide" Target="/ppt/notesSlides/notesSlide3.xml" Id="Reb9b000ed8364d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45a742ed44784" /><Relationship Type="http://schemas.openxmlformats.org/officeDocument/2006/relationships/notesSlide" Target="/ppt/notesSlides/notesSlide4.xml" Id="R3ca12089c21946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2dee20b85439c" /><Relationship Type="http://schemas.openxmlformats.org/officeDocument/2006/relationships/notesSlide" Target="/ppt/notesSlides/notesSlide5.xml" Id="Rb52b03ce030b4f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90c6253164c10" /><Relationship Type="http://schemas.openxmlformats.org/officeDocument/2006/relationships/notesSlide" Target="/ppt/notesSlides/notesSlide6.xml" Id="R2e99d5b187934c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5ed8c1ddc4473" /><Relationship Type="http://schemas.openxmlformats.org/officeDocument/2006/relationships/image" Target="/ppt/media/image2.png" Id="Raa13a4ed58c04447" /><Relationship Type="http://schemas.openxmlformats.org/officeDocument/2006/relationships/image" Target="/ppt/media/image2.svg" Id="R4c8afd967a1c4912" /><Relationship Type="http://schemas.openxmlformats.org/officeDocument/2006/relationships/notesSlide" Target="/ppt/notesSlides/notesSlide7.xml" Id="R51f281f256a341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056941f61409a" /><Relationship Type="http://schemas.openxmlformats.org/officeDocument/2006/relationships/image" Target="/ppt/media/image3.png" Id="R7357c03b0f70406b" /><Relationship Type="http://schemas.openxmlformats.org/officeDocument/2006/relationships/image" Target="/ppt/media/image3.svg" Id="Rec34dc823f1d4cb6" /><Relationship Type="http://schemas.openxmlformats.org/officeDocument/2006/relationships/notesSlide" Target="/ppt/notesSlides/notesSlide8.xml" Id="R2f715aa7f8fb4c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769f31a8f4173" /><Relationship Type="http://schemas.openxmlformats.org/officeDocument/2006/relationships/image" Target="/ppt/media/image4.png" Id="Rd5394694c0894013" /><Relationship Type="http://schemas.openxmlformats.org/officeDocument/2006/relationships/image" Target="/ppt/media/image4.svg" Id="R68e04748891b47cb" /><Relationship Type="http://schemas.openxmlformats.org/officeDocument/2006/relationships/notesSlide" Target="/ppt/notesSlides/notesSlide9.xml" Id="Rfd918c728dbf43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0617624be4906" /><Relationship Type="http://schemas.openxmlformats.org/officeDocument/2006/relationships/image" Target="/ppt/media/image5.png" Id="R923229058d5e4cff" /><Relationship Type="http://schemas.openxmlformats.org/officeDocument/2006/relationships/image" Target="/ppt/media/image5.svg" Id="Rc10f3209245940e0" /><Relationship Type="http://schemas.openxmlformats.org/officeDocument/2006/relationships/notesSlide" Target="/ppt/notesSlides/notesSlide10.xml" Id="R65152e9cd1c849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fdbae85a141e8" /><Relationship Type="http://schemas.openxmlformats.org/officeDocument/2006/relationships/image" Target="/ppt/media/image6.png" Id="Ra32b53313c854f3a" /><Relationship Type="http://schemas.openxmlformats.org/officeDocument/2006/relationships/image" Target="/ppt/media/image6.svg" Id="R53e97a7ca01946f4" /><Relationship Type="http://schemas.openxmlformats.org/officeDocument/2006/relationships/image" Target="/ppt/media/image7.png" Id="R9069ebc89e67484e" /><Relationship Type="http://schemas.openxmlformats.org/officeDocument/2006/relationships/image" Target="/ppt/media/image7.svg" Id="Rb0153897589e4ffc" /><Relationship Type="http://schemas.openxmlformats.org/officeDocument/2006/relationships/image" Target="/ppt/media/image8.png" Id="R8c7565b0088e4376" /><Relationship Type="http://schemas.openxmlformats.org/officeDocument/2006/relationships/image" Target="/ppt/media/image8.svg" Id="R135a2fb2f05345a0" /><Relationship Type="http://schemas.openxmlformats.org/officeDocument/2006/relationships/image" Target="/ppt/media/image9.png" Id="R6fb7b076f2694740" /><Relationship Type="http://schemas.openxmlformats.org/officeDocument/2006/relationships/image" Target="/ppt/media/image9.svg" Id="R25f9aa003f4d4af5" /><Relationship Type="http://schemas.openxmlformats.org/officeDocument/2006/relationships/notesSlide" Target="/ppt/notesSlides/notesSlide11.xml" Id="Ree5b9a7b5b0341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0b156eeb34f33" /><Relationship Type="http://schemas.openxmlformats.org/officeDocument/2006/relationships/image" Target="/ppt/media/image10.png" Id="Re99ebc610a504459" /><Relationship Type="http://schemas.openxmlformats.org/officeDocument/2006/relationships/image" Target="/ppt/media/image11.png" Id="R569e5149acd04383" /><Relationship Type="http://schemas.openxmlformats.org/officeDocument/2006/relationships/image" Target="/ppt/media/image12.png" Id="Rb021863a1aa14515" /><Relationship Type="http://schemas.openxmlformats.org/officeDocument/2006/relationships/notesSlide" Target="/ppt/notesSlides/notesSlide12.xml" Id="R3382597c8cf240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8fd29be664346" /><Relationship Type="http://schemas.openxmlformats.org/officeDocument/2006/relationships/image" Target="/ppt/media/image13.png" Id="R037ff76e2a74429e" /><Relationship Type="http://schemas.openxmlformats.org/officeDocument/2006/relationships/image" Target="/ppt/media/image10.svg" Id="Rebc260e835884431" /><Relationship Type="http://schemas.openxmlformats.org/officeDocument/2006/relationships/image" Target="/ppt/media/image14.png" Id="R20b8b87613d04536" /><Relationship Type="http://schemas.openxmlformats.org/officeDocument/2006/relationships/image" Target="/ppt/media/image11.svg" Id="Rdbea4b2c55684585" /><Relationship Type="http://schemas.openxmlformats.org/officeDocument/2006/relationships/image" Target="/ppt/media/image15.png" Id="R1870d4fa074647ca" /><Relationship Type="http://schemas.openxmlformats.org/officeDocument/2006/relationships/image" Target="/ppt/media/image12.svg" Id="Re66a0ac6776043e8" /><Relationship Type="http://schemas.openxmlformats.org/officeDocument/2006/relationships/image" Target="/ppt/media/image16.png" Id="R7b9561ea19404ebd" /><Relationship Type="http://schemas.openxmlformats.org/officeDocument/2006/relationships/image" Target="/ppt/media/image13.svg" Id="Rfda61e2c489c44c2" /><Relationship Type="http://schemas.openxmlformats.org/officeDocument/2006/relationships/notesSlide" Target="/ppt/notesSlides/notesSlide13.xml" Id="Rf823342dc08547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a9c0935404e81" /><Relationship Type="http://schemas.openxmlformats.org/officeDocument/2006/relationships/image" Target="/ppt/media/image17.png" Id="R11ac602f2c584721" /><Relationship Type="http://schemas.openxmlformats.org/officeDocument/2006/relationships/image" Target="/ppt/media/image14.svg" Id="Rd3bbd910a18e416f" /><Relationship Type="http://schemas.openxmlformats.org/officeDocument/2006/relationships/notesSlide" Target="/ppt/notesSlides/notesSlide14.xml" Id="Rea174a0344cc4f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6b249693f4047" /><Relationship Type="http://schemas.openxmlformats.org/officeDocument/2006/relationships/image" Target="/ppt/media/image18.png" Id="Rbb72cd5c666a4268" /><Relationship Type="http://schemas.openxmlformats.org/officeDocument/2006/relationships/image" Target="/ppt/media/image15.svg" Id="Rd0b49c7cf8ff4fea" /><Relationship Type="http://schemas.openxmlformats.org/officeDocument/2006/relationships/image" Target="/ppt/media/image19.png" Id="Rd04e036c37b041b2" /><Relationship Type="http://schemas.openxmlformats.org/officeDocument/2006/relationships/image" Target="/ppt/media/image16.svg" Id="R2677838af80c4407" /><Relationship Type="http://schemas.openxmlformats.org/officeDocument/2006/relationships/image" Target="/ppt/media/image20.png" Id="R646d6231f31b45e6" /><Relationship Type="http://schemas.openxmlformats.org/officeDocument/2006/relationships/image" Target="/ppt/media/image17.svg" Id="R8f48c2d882004f44" /><Relationship Type="http://schemas.openxmlformats.org/officeDocument/2006/relationships/image" Target="/ppt/media/image21.png" Id="R5ae9f4ecd8ac41df" /><Relationship Type="http://schemas.openxmlformats.org/officeDocument/2006/relationships/image" Target="/ppt/media/image18.svg" Id="R67155c0943f34ef5" /><Relationship Type="http://schemas.openxmlformats.org/officeDocument/2006/relationships/image" Target="/ppt/media/image22.png" Id="R42a7bf2b6fd348c3" /><Relationship Type="http://schemas.openxmlformats.org/officeDocument/2006/relationships/image" Target="/ppt/media/image19.svg" Id="R48c183be461841e3" /><Relationship Type="http://schemas.openxmlformats.org/officeDocument/2006/relationships/image" Target="/ppt/media/image23.png" Id="R38482501df354ae7" /><Relationship Type="http://schemas.openxmlformats.org/officeDocument/2006/relationships/image" Target="/ppt/media/image20.svg" Id="R704bd7cf338843b9" /><Relationship Type="http://schemas.openxmlformats.org/officeDocument/2006/relationships/notesSlide" Target="/ppt/notesSlides/notesSlide15.xml" Id="R1139b9d6076048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8cab0aa9e43d4" /><Relationship Type="http://schemas.openxmlformats.org/officeDocument/2006/relationships/notesSlide" Target="/ppt/notesSlides/notesSlide16.xml" Id="Rc398e298eb414b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081d62ae594dae" /><Relationship Type="http://schemas.openxmlformats.org/officeDocument/2006/relationships/notesSlide" Target="/ppt/notesSlides/notesSlide17.xml" Id="R3b776e4de7f641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3d88713454824" /><Relationship Type="http://schemas.openxmlformats.org/officeDocument/2006/relationships/notesSlide" Target="/ppt/notesSlides/notesSlide18.xml" Id="Raed8c2c738b24f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ad95c465d4607" /><Relationship Type="http://schemas.openxmlformats.org/officeDocument/2006/relationships/notesSlide" Target="/ppt/notesSlides/notesSlide19.xml" Id="R7104fb99a7184d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f0c26d82148eb" /><Relationship Type="http://schemas.openxmlformats.org/officeDocument/2006/relationships/notesSlide" Target="/ppt/notesSlides/notesSlide20.xml" Id="Ra0466b4976634e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92d3e526a4b2d" /><Relationship Type="http://schemas.openxmlformats.org/officeDocument/2006/relationships/notesSlide" Target="/ppt/notesSlides/notesSlide21.xml" Id="Rad8af7a7eb7c40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c26fca3964341" /><Relationship Type="http://schemas.openxmlformats.org/officeDocument/2006/relationships/notesSlide" Target="/ppt/notesSlides/notesSlide22.xml" Id="R0551606ebe4943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72bfbc9de4945" /><Relationship Type="http://schemas.openxmlformats.org/officeDocument/2006/relationships/notesSlide" Target="/ppt/notesSlides/notesSlide23.xml" Id="Rb0d48c73929c4e6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dfc6f2060408e" /><Relationship Type="http://schemas.openxmlformats.org/officeDocument/2006/relationships/notesSlide" Target="/ppt/notesSlides/notesSlide24.xml" Id="Rb22c86c6341a49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7fc12304b4559" /><Relationship Type="http://schemas.openxmlformats.org/officeDocument/2006/relationships/image" Target="/ppt/media/image24.png" Id="R8466f8fadb2c4a1b" /><Relationship Type="http://schemas.openxmlformats.org/officeDocument/2006/relationships/notesSlide" Target="/ppt/notesSlides/notesSlide25.xml" Id="Ref7310dac5ab487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d7a531a7b4abd" /><Relationship Type="http://schemas.openxmlformats.org/officeDocument/2006/relationships/image" Target="/ppt/media/image25.png" Id="Radec17b5b26e4eea" /><Relationship Type="http://schemas.openxmlformats.org/officeDocument/2006/relationships/image" Target="/ppt/media/image21.svg" Id="R6f089da490c64b2f" /><Relationship Type="http://schemas.openxmlformats.org/officeDocument/2006/relationships/image" Target="/ppt/media/image26.png" Id="R094a62c3638a43f4" /><Relationship Type="http://schemas.openxmlformats.org/officeDocument/2006/relationships/notesSlide" Target="/ppt/notesSlides/notesSlide26.xml" Id="Rafe7e313514c42a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70ec222324cff" /><Relationship Type="http://schemas.openxmlformats.org/officeDocument/2006/relationships/notesSlide" Target="/ppt/notesSlides/notesSlide27.xml" Id="Rd9e7eea80a8046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b5ff85c82431a" /><Relationship Type="http://schemas.openxmlformats.org/officeDocument/2006/relationships/image" Target="/ppt/media/image27.png" Id="Rfb38bc71dd25429c" /><Relationship Type="http://schemas.openxmlformats.org/officeDocument/2006/relationships/image" Target="/ppt/media/image22.svg" Id="R1f9074c760f84f43" /><Relationship Type="http://schemas.openxmlformats.org/officeDocument/2006/relationships/notesSlide" Target="/ppt/notesSlides/notesSlide28.xml" Id="R58442c4b204f45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3b78176814036" /><Relationship Type="http://schemas.openxmlformats.org/officeDocument/2006/relationships/image" Target="/ppt/media/image28.png" Id="R29dafca89ed6478d" /><Relationship Type="http://schemas.openxmlformats.org/officeDocument/2006/relationships/image" Target="/ppt/media/image23.svg" Id="R8b26263f723d4c9d" /><Relationship Type="http://schemas.openxmlformats.org/officeDocument/2006/relationships/notesSlide" Target="/ppt/notesSlides/notesSlide29.xml" Id="R7a5e73293f9c4f5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d1df3c4954629" /><Relationship Type="http://schemas.openxmlformats.org/officeDocument/2006/relationships/image" Target="/ppt/media/image29.png" Id="R274423095cdd48ba" /><Relationship Type="http://schemas.openxmlformats.org/officeDocument/2006/relationships/image" Target="/ppt/media/image24.svg" Id="R6f2d1498d6824310" /><Relationship Type="http://schemas.openxmlformats.org/officeDocument/2006/relationships/image" Target="/ppt/media/image30.png" Id="R58bbea8de8d54973" /><Relationship Type="http://schemas.openxmlformats.org/officeDocument/2006/relationships/image" Target="/ppt/media/image31.png" Id="Rf58f96876531486b" /><Relationship Type="http://schemas.openxmlformats.org/officeDocument/2006/relationships/image" Target="/ppt/media/image32.png" Id="Raeb9d04bb8944e75" /><Relationship Type="http://schemas.openxmlformats.org/officeDocument/2006/relationships/image" Target="/ppt/media/image33.png" Id="R5fb005f6156e42a3" /><Relationship Type="http://schemas.openxmlformats.org/officeDocument/2006/relationships/notesSlide" Target="/ppt/notesSlides/notesSlide30.xml" Id="R271c3afe20d94e8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a11d03c864fe1" /><Relationship Type="http://schemas.openxmlformats.org/officeDocument/2006/relationships/image" Target="/ppt/media/image34.png" Id="Rae7fcc6ee0914bf2" /><Relationship Type="http://schemas.openxmlformats.org/officeDocument/2006/relationships/image" Target="/ppt/media/image25.svg" Id="Rdb402c5808f84a0a" /><Relationship Type="http://schemas.openxmlformats.org/officeDocument/2006/relationships/image" Target="/ppt/media/image35.png" Id="R95ac917200b240c6" /><Relationship Type="http://schemas.openxmlformats.org/officeDocument/2006/relationships/notesSlide" Target="/ppt/notesSlides/notesSlide31.xml" Id="R81e0c5d6dc1c402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3a2c9891e4d20" /><Relationship Type="http://schemas.openxmlformats.org/officeDocument/2006/relationships/image" Target="/ppt/media/image36.png" Id="Ree92b96475a74b29" /><Relationship Type="http://schemas.openxmlformats.org/officeDocument/2006/relationships/image" Target="/ppt/media/image26.svg" Id="R303a04d8c32341da" /><Relationship Type="http://schemas.openxmlformats.org/officeDocument/2006/relationships/image" Target="/ppt/media/image37.png" Id="Ra5c2022df00943f0" /><Relationship Type="http://schemas.openxmlformats.org/officeDocument/2006/relationships/image" Target="/ppt/media/image38.png" Id="Reab86b89d8f84b8a" /><Relationship Type="http://schemas.openxmlformats.org/officeDocument/2006/relationships/image" Target="/ppt/media/image39.png" Id="Rd8822b88891f49dc" /><Relationship Type="http://schemas.openxmlformats.org/officeDocument/2006/relationships/image" Target="/ppt/media/image40.png" Id="Rd459919d9741473a" /><Relationship Type="http://schemas.openxmlformats.org/officeDocument/2006/relationships/image" Target="/ppt/media/image41.png" Id="Ra09038460ab2457e" /><Relationship Type="http://schemas.openxmlformats.org/officeDocument/2006/relationships/image" Target="/ppt/media/image42.png" Id="R35caa2364e174b77" /><Relationship Type="http://schemas.openxmlformats.org/officeDocument/2006/relationships/notesSlide" Target="/ppt/notesSlides/notesSlide32.xml" Id="R8757ed8ca7dc419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695b98df744f2" /><Relationship Type="http://schemas.openxmlformats.org/officeDocument/2006/relationships/image" Target="/ppt/media/image43.png" Id="Rba1e0e8a1ce74791" /><Relationship Type="http://schemas.openxmlformats.org/officeDocument/2006/relationships/image" Target="/ppt/media/image27.svg" Id="R7281253450284d76" /><Relationship Type="http://schemas.openxmlformats.org/officeDocument/2006/relationships/image" Target="/ppt/media/image44.png" Id="R883eb8dbf9524feb" /><Relationship Type="http://schemas.openxmlformats.org/officeDocument/2006/relationships/image" Target="/ppt/media/image28.svg" Id="R64b27559c29f40df" /><Relationship Type="http://schemas.openxmlformats.org/officeDocument/2006/relationships/notesSlide" Target="/ppt/notesSlides/notesSlide33.xml" Id="R444465236825458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9a12736354422" /><Relationship Type="http://schemas.openxmlformats.org/officeDocument/2006/relationships/image" Target="/ppt/media/image45.png" Id="Rd4f918533c05475c" /><Relationship Type="http://schemas.openxmlformats.org/officeDocument/2006/relationships/image" Target="/ppt/media/image46.png" Id="R4b3b937f22964219" /><Relationship Type="http://schemas.openxmlformats.org/officeDocument/2006/relationships/image" Target="/ppt/media/image29.svg" Id="R67ecccb1de144988" /><Relationship Type="http://schemas.openxmlformats.org/officeDocument/2006/relationships/image" Target="/ppt/media/image47.png" Id="R703f85637ecd47ff" /><Relationship Type="http://schemas.openxmlformats.org/officeDocument/2006/relationships/image" Target="/ppt/media/image30.svg" Id="Re9bcbc467ec14cef" /><Relationship Type="http://schemas.openxmlformats.org/officeDocument/2006/relationships/notesSlide" Target="/ppt/notesSlides/notesSlide34.xml" Id="R6f54faabbf4149d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ea652baa744eaf" /><Relationship Type="http://schemas.openxmlformats.org/officeDocument/2006/relationships/image" Target="/ppt/media/image48.png" Id="R1e95da18c937454b" /><Relationship Type="http://schemas.openxmlformats.org/officeDocument/2006/relationships/image" Target="/ppt/media/image31.svg" Id="R33e2075657aa4d5c" /><Relationship Type="http://schemas.openxmlformats.org/officeDocument/2006/relationships/notesSlide" Target="/ppt/notesSlides/notesSlide35.xml" Id="R56613d2547984d1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74800732a4bba" /><Relationship Type="http://schemas.openxmlformats.org/officeDocument/2006/relationships/image" Target="/ppt/media/image49.png" Id="R98099ec726e04053" /><Relationship Type="http://schemas.openxmlformats.org/officeDocument/2006/relationships/image" Target="/ppt/media/image32.svg" Id="Ree41364469eb4a7d" /><Relationship Type="http://schemas.openxmlformats.org/officeDocument/2006/relationships/notesSlide" Target="/ppt/notesSlides/notesSlide36.xml" Id="R06d4597baab84ee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d6a939b964f6b" /><Relationship Type="http://schemas.openxmlformats.org/officeDocument/2006/relationships/image" Target="/ppt/media/image50.png" Id="R689cd72dc16a4b13" /><Relationship Type="http://schemas.openxmlformats.org/officeDocument/2006/relationships/image" Target="/ppt/media/image33.svg" Id="Rd4c72ffd57884303" /><Relationship Type="http://schemas.openxmlformats.org/officeDocument/2006/relationships/image" Target="/ppt/media/image51.png" Id="Raba5973229a54afb" /><Relationship Type="http://schemas.openxmlformats.org/officeDocument/2006/relationships/image" Target="/ppt/media/image34.svg" Id="R0fc63806dd6b4040" /><Relationship Type="http://schemas.openxmlformats.org/officeDocument/2006/relationships/image" Target="/ppt/media/image52.png" Id="R257c387ead7349d7" /><Relationship Type="http://schemas.openxmlformats.org/officeDocument/2006/relationships/image" Target="/ppt/media/image35.svg" Id="R9f1f9e4a5bcb4b59" /><Relationship Type="http://schemas.openxmlformats.org/officeDocument/2006/relationships/notesSlide" Target="/ppt/notesSlides/notesSlide37.xml" Id="R8e75449c649a409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6078e4ed424d0d" /><Relationship Type="http://schemas.openxmlformats.org/officeDocument/2006/relationships/image" Target="/ppt/media/image53.png" Id="R4282a59e9f3b49de" /><Relationship Type="http://schemas.openxmlformats.org/officeDocument/2006/relationships/image" Target="/ppt/media/image36.svg" Id="R940b318f377f43d0" /><Relationship Type="http://schemas.openxmlformats.org/officeDocument/2006/relationships/image" Target="/ppt/media/image54.png" Id="R15122e3045644dc9" /><Relationship Type="http://schemas.openxmlformats.org/officeDocument/2006/relationships/image" Target="/ppt/media/image37.svg" Id="R3a7c5857023740ad" /><Relationship Type="http://schemas.openxmlformats.org/officeDocument/2006/relationships/notesSlide" Target="/ppt/notesSlides/notesSlide38.xml" Id="Rfc9349a224e24a3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810922eb749dd" /><Relationship Type="http://schemas.openxmlformats.org/officeDocument/2006/relationships/notesSlide" Target="/ppt/notesSlides/notesSlide39.xml" Id="R379b98790a254ac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0305e68de44f3" /><Relationship Type="http://schemas.openxmlformats.org/officeDocument/2006/relationships/image" Target="/ppt/media/image55.png" Id="R1d7d5eb1fea54a77" /><Relationship Type="http://schemas.openxmlformats.org/officeDocument/2006/relationships/image" Target="/ppt/media/image38.svg" Id="R51b6f85b8e26480a" /><Relationship Type="http://schemas.openxmlformats.org/officeDocument/2006/relationships/notesSlide" Target="/ppt/notesSlides/notesSlide40.xml" Id="Rad5af40a73674a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IDENTITY GUIDELINES">
            <a:extLst xmlns:a="http://schemas.openxmlformats.org/drawingml/2006/main">
              <a:ext uri="{FF2B5EF4-FFF2-40B4-BE49-F238E27FC236}">
                <a16:creationId xmlns:a16="http://schemas.microsoft.com/office/drawing/2014/main" id="{AFE33C29-CD39-4516-A209-C86FEF5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IDENTITY GUIDELINES</a:t>
            </a:r>
          </a:p>
        </p:txBody>
      </p:sp>
      <p:sp>
        <p:nvSpPr>
          <p:cNvPr id="2" name="text-">
            <a:extLst xmlns:a="http://schemas.openxmlformats.org/drawingml/2006/main">
              <a:ext uri="{FF2B5EF4-FFF2-40B4-BE49-F238E27FC236}">
                <a16:creationId xmlns:a16="http://schemas.microsoft.com/office/drawing/2014/main" id="{3DEC4A3F-4EB1-46BE-9C93-E1718B73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B4E3F05-6841-42BD-876C-ED6883EF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AA98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4A9A9191-7368-4F05-ADAD-F1A5D963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1">
            <a:extLst xmlns:a="http://schemas.openxmlformats.org/drawingml/2006/main">
              <a:ext uri="{FF2B5EF4-FFF2-40B4-BE49-F238E27FC236}">
                <a16:creationId xmlns:a16="http://schemas.microsoft.com/office/drawing/2014/main" id="{67D1584B-523C-4E42-BB05-E3006E3B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E278D-CA38-43CC-9D62-A0B65E5D2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c9b2004804147">
            <a:extLst>
              <a:ext uri="{96DAC541-7B7A-43D3-8B79-37D633B846F1}">
                <asvg:svgBlip xmlns:asvg="http://schemas.microsoft.com/office/drawing/2016/SVG/main" r:embed="Rb107c6eb542f45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0630" y="1924050"/>
            <a:ext cx="9667875" cy="2571111"/>
          </a:xfrm>
          <a:prstGeom xmlns:a="http://schemas.openxmlformats.org/drawingml/2006/main" prst="rect">
            <a:avLst/>
          </a:prstGeom>
        </p:spPr>
      </p:pic>
      <p:sp>
        <p:nvSpPr>
          <p:cNvPr id="7" name="text-Brand identity&#10;guideline">
            <a:extLst xmlns:a="http://schemas.openxmlformats.org/drawingml/2006/main">
              <a:ext uri="{FF2B5EF4-FFF2-40B4-BE49-F238E27FC236}">
                <a16:creationId xmlns:a16="http://schemas.microsoft.com/office/drawing/2014/main" id="{74F8EDA9-9C81-4939-BEFB-077147F9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46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Brand identity</a:t>
            </a:r>
          </a:p>
          <a:p xmlns:a="http://schemas.openxmlformats.org/drawingml/2006/main">
            <a:pPr algn="l">
              <a:defRPr sz="46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46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guidelines</a:t>
            </a:r>
          </a:p>
        </p:txBody>
      </p:sp>
      <p:sp>
        <p:nvSpPr>
          <p:cNvPr id="8" name="text-Working Seam / Version 1">
            <a:extLst xmlns:a="http://schemas.openxmlformats.org/drawingml/2006/main">
              <a:ext uri="{FF2B5EF4-FFF2-40B4-BE49-F238E27FC236}">
                <a16:creationId xmlns:a16="http://schemas.microsoft.com/office/drawing/2014/main" id="{61290A63-C46F-4A88-98BC-5B7EA6B2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341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Working Seam / Version 1.0 / October 2026</a:t>
            </a:r>
          </a:p>
        </p:txBody>
      </p:sp>
    </p:spTree>
    <p:extLst>
      <p:ext uri="{BB962C8B-B14F-4D97-AF65-F5344CB8AC3E}">
        <p14:creationId xmlns:p14="http://schemas.microsoft.com/office/powerpoint/2010/main" val="333629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BRAND FOUNDATION">
            <a:extLst xmlns:a="http://schemas.openxmlformats.org/drawingml/2006/main">
              <a:ext uri="{FF2B5EF4-FFF2-40B4-BE49-F238E27FC236}">
                <a16:creationId xmlns:a16="http://schemas.microsoft.com/office/drawing/2014/main" id="{FF7C1807-4C93-4A0C-8B4D-9FBB0E8C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BRAND FOUNDATION</a:t>
            </a:r>
          </a:p>
        </p:txBody>
      </p:sp>
      <p:sp>
        <p:nvSpPr>
          <p:cNvPr id="2" name="text-A system for everyday wo">
            <a:extLst xmlns:a="http://schemas.openxmlformats.org/drawingml/2006/main">
              <a:ext uri="{FF2B5EF4-FFF2-40B4-BE49-F238E27FC236}">
                <a16:creationId xmlns:a16="http://schemas.microsoft.com/office/drawing/2014/main" id="{84E86298-74C0-4871-B539-B58B94C6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A system for everyday work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1D7B900-77BC-4921-846C-025E410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B1DEE1FD-50EC-471F-AA72-60E2F9BC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2">
            <a:extLst xmlns:a="http://schemas.openxmlformats.org/drawingml/2006/main">
              <a:ext uri="{FF2B5EF4-FFF2-40B4-BE49-F238E27FC236}">
                <a16:creationId xmlns:a16="http://schemas.microsoft.com/office/drawing/2014/main" id="{603BAC6C-19F6-49B6-AE21-43279722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text-The logo stays consisten">
            <a:extLst xmlns:a="http://schemas.openxmlformats.org/drawingml/2006/main">
              <a:ext uri="{FF2B5EF4-FFF2-40B4-BE49-F238E27FC236}">
                <a16:creationId xmlns:a16="http://schemas.microsoft.com/office/drawing/2014/main" id="{78CF6B13-B443-410D-91DF-2679E6EE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143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The logo stays consistent. The team brings it to life.</a:t>
            </a:r>
          </a:p>
        </p:txBody>
      </p:sp>
      <p:sp>
        <p:nvSpPr>
          <p:cNvPr id="7" name="text-01">
            <a:extLst xmlns:a="http://schemas.openxmlformats.org/drawingml/2006/main">
              <a:ext uri="{FF2B5EF4-FFF2-40B4-BE49-F238E27FC236}">
                <a16:creationId xmlns:a16="http://schemas.microsoft.com/office/drawing/2014/main" id="{AFF39E41-6CFF-4262-8BF5-14F9C0FE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text-Foundation">
            <a:extLst xmlns:a="http://schemas.openxmlformats.org/drawingml/2006/main">
              <a:ext uri="{FF2B5EF4-FFF2-40B4-BE49-F238E27FC236}">
                <a16:creationId xmlns:a16="http://schemas.microsoft.com/office/drawing/2014/main" id="{F3B378E8-D085-49B0-997C-497BD898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241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Foundation</a:t>
            </a:r>
          </a:p>
        </p:txBody>
      </p:sp>
      <p:sp>
        <p:nvSpPr>
          <p:cNvPr id="9" name="text-Purpose, audience, princ">
            <a:extLst xmlns:a="http://schemas.openxmlformats.org/drawingml/2006/main">
              <a:ext uri="{FF2B5EF4-FFF2-40B4-BE49-F238E27FC236}">
                <a16:creationId xmlns:a16="http://schemas.microsoft.com/office/drawing/2014/main" id="{C0818A49-86E6-4DDE-ACDA-573AFB1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527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Purpose, audience, principles and voice</a:t>
            </a:r>
          </a:p>
        </p:txBody>
      </p:sp>
      <p:sp>
        <p:nvSpPr>
          <p:cNvPr id="10" name="text-03-06">
            <a:extLst xmlns:a="http://schemas.openxmlformats.org/drawingml/2006/main">
              <a:ext uri="{FF2B5EF4-FFF2-40B4-BE49-F238E27FC236}">
                <a16:creationId xmlns:a16="http://schemas.microsoft.com/office/drawing/2014/main" id="{17430531-8691-40A0-9BC7-EFFFD26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7527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03-06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3D00D3F-73EF-4B38-9C77-F103DE6C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86125"/>
            <a:ext cx="1163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2" name="text-02">
            <a:extLst xmlns:a="http://schemas.openxmlformats.org/drawingml/2006/main">
              <a:ext uri="{FF2B5EF4-FFF2-40B4-BE49-F238E27FC236}">
                <a16:creationId xmlns:a16="http://schemas.microsoft.com/office/drawing/2014/main" id="{90100CAC-E229-47EA-A13E-EA23562A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3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13DD2171-DEDE-42B4-8CCF-B9159461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480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14" name="text-Construction, clear spac">
            <a:extLst xmlns:a="http://schemas.openxmlformats.org/drawingml/2006/main">
              <a:ext uri="{FF2B5EF4-FFF2-40B4-BE49-F238E27FC236}">
                <a16:creationId xmlns:a16="http://schemas.microsoft.com/office/drawing/2014/main" id="{9BE9C559-9D60-4F87-815A-7CE59E9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Construction, clear space, variants and use</a:t>
            </a:r>
          </a:p>
        </p:txBody>
      </p:sp>
      <p:sp>
        <p:nvSpPr>
          <p:cNvPr id="15" name="text-07-15">
            <a:extLst xmlns:a="http://schemas.openxmlformats.org/drawingml/2006/main">
              <a:ext uri="{FF2B5EF4-FFF2-40B4-BE49-F238E27FC236}">
                <a16:creationId xmlns:a16="http://schemas.microsoft.com/office/drawing/2014/main" id="{ADD83662-4EF0-4F9C-B074-6EF95DF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07-15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A20291A5-D1E3-4CED-A5EB-94B27E90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0025"/>
            <a:ext cx="1163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7" name="text-03">
            <a:extLst xmlns:a="http://schemas.openxmlformats.org/drawingml/2006/main">
              <a:ext uri="{FF2B5EF4-FFF2-40B4-BE49-F238E27FC236}">
                <a16:creationId xmlns:a16="http://schemas.microsoft.com/office/drawing/2014/main" id="{268908B7-B326-49A3-AA2D-A457060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8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CBE39DCA-1519-4322-B9D2-00071D0B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719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19" name="text-Color, typography, layou">
            <a:extLst xmlns:a="http://schemas.openxmlformats.org/drawingml/2006/main">
              <a:ext uri="{FF2B5EF4-FFF2-40B4-BE49-F238E27FC236}">
                <a16:creationId xmlns:a16="http://schemas.microsoft.com/office/drawing/2014/main" id="{99D75AFC-DC16-41DD-B69C-06F5AD74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005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Color, typography, layout and illustration</a:t>
            </a:r>
          </a:p>
        </p:txBody>
      </p:sp>
      <p:sp>
        <p:nvSpPr>
          <p:cNvPr id="20" name="text-16-27">
            <a:extLst xmlns:a="http://schemas.openxmlformats.org/drawingml/2006/main">
              <a:ext uri="{FF2B5EF4-FFF2-40B4-BE49-F238E27FC236}">
                <a16:creationId xmlns:a16="http://schemas.microsoft.com/office/drawing/2014/main" id="{6D7BE227-AF36-4643-BFEF-A9DE552F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005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16-27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19DC8512-1D68-453C-BD8A-9C1BE9A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33925"/>
            <a:ext cx="1163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22" name="text-04">
            <a:extLst xmlns:a="http://schemas.openxmlformats.org/drawingml/2006/main">
              <a:ext uri="{FF2B5EF4-FFF2-40B4-BE49-F238E27FC236}">
                <a16:creationId xmlns:a16="http://schemas.microsoft.com/office/drawing/2014/main" id="{F812299E-2F16-42E0-8B89-3BD0C539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3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63A0D297-2CFF-454B-890F-9949378A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958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4" name="text-Product, documents, soci">
            <a:extLst xmlns:a="http://schemas.openxmlformats.org/drawingml/2006/main">
              <a:ext uri="{FF2B5EF4-FFF2-40B4-BE49-F238E27FC236}">
                <a16:creationId xmlns:a16="http://schemas.microsoft.com/office/drawing/2014/main" id="{1D94442D-34DC-4792-BFCD-42397CC8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244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Product, documents, social and connected tools</a:t>
            </a:r>
          </a:p>
        </p:txBody>
      </p:sp>
      <p:sp>
        <p:nvSpPr>
          <p:cNvPr id="25" name="text-28-38">
            <a:extLst xmlns:a="http://schemas.openxmlformats.org/drawingml/2006/main">
              <a:ext uri="{FF2B5EF4-FFF2-40B4-BE49-F238E27FC236}">
                <a16:creationId xmlns:a16="http://schemas.microsoft.com/office/drawing/2014/main" id="{3E7F4B54-ADD9-4FD9-8A5D-B5EF5C7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244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28-38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0FD46F55-093D-422B-9626-714E93BF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57825"/>
            <a:ext cx="1163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27" name="text-05">
            <a:extLst xmlns:a="http://schemas.openxmlformats.org/drawingml/2006/main">
              <a:ext uri="{FF2B5EF4-FFF2-40B4-BE49-F238E27FC236}">
                <a16:creationId xmlns:a16="http://schemas.microsoft.com/office/drawing/2014/main" id="{EBFFD56B-6486-4F1E-97BA-D2B91D8B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8" name="text-Implementation">
            <a:extLst xmlns:a="http://schemas.openxmlformats.org/drawingml/2006/main">
              <a:ext uri="{FF2B5EF4-FFF2-40B4-BE49-F238E27FC236}">
                <a16:creationId xmlns:a16="http://schemas.microsoft.com/office/drawing/2014/main" id="{B271CA03-4AD6-4883-85CF-D307C5DF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19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Implementation</a:t>
            </a:r>
          </a:p>
        </p:txBody>
      </p:sp>
      <p:sp>
        <p:nvSpPr>
          <p:cNvPr id="29" name="text-Assets, tokens and produ">
            <a:extLst xmlns:a="http://schemas.openxmlformats.org/drawingml/2006/main">
              <a:ext uri="{FF2B5EF4-FFF2-40B4-BE49-F238E27FC236}">
                <a16:creationId xmlns:a16="http://schemas.microsoft.com/office/drawing/2014/main" id="{9E33996E-731A-47C3-B4EE-7C96D41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483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Assets, tokens and production handoff</a:t>
            </a:r>
          </a:p>
        </p:txBody>
      </p:sp>
      <p:sp>
        <p:nvSpPr>
          <p:cNvPr id="30" name="text-39-40">
            <a:extLst xmlns:a="http://schemas.openxmlformats.org/drawingml/2006/main">
              <a:ext uri="{FF2B5EF4-FFF2-40B4-BE49-F238E27FC236}">
                <a16:creationId xmlns:a16="http://schemas.microsoft.com/office/drawing/2014/main" id="{FD1A5286-86A5-4F59-A6AF-979CDCEB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6483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39-40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F67942CB-ACC9-4D15-8623-A7ACD06A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81725"/>
            <a:ext cx="1163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1047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BRAND FOUNDATION">
            <a:extLst xmlns:a="http://schemas.openxmlformats.org/drawingml/2006/main">
              <a:ext uri="{FF2B5EF4-FFF2-40B4-BE49-F238E27FC236}">
                <a16:creationId xmlns:a16="http://schemas.microsoft.com/office/drawing/2014/main" id="{4AA98906-39CD-4605-8EF7-95D72504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BRAND FOUNDATION</a:t>
            </a:r>
          </a:p>
        </p:txBody>
      </p:sp>
      <p:sp>
        <p:nvSpPr>
          <p:cNvPr id="2" name="text-Your business team, with">
            <a:extLst xmlns:a="http://schemas.openxmlformats.org/drawingml/2006/main">
              <a:ext uri="{FF2B5EF4-FFF2-40B4-BE49-F238E27FC236}">
                <a16:creationId xmlns:a16="http://schemas.microsoft.com/office/drawing/2014/main" id="{6EB7B504-51A5-4158-8972-6B4D034B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Your business team, with you in charge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7569AEF-185A-4ED1-9CF5-74958FC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653C4DB6-1B9B-416C-A917-ABC8F75A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3">
            <a:extLst xmlns:a="http://schemas.openxmlformats.org/drawingml/2006/main">
              <a:ext uri="{FF2B5EF4-FFF2-40B4-BE49-F238E27FC236}">
                <a16:creationId xmlns:a16="http://schemas.microsoft.com/office/drawing/2014/main" id="{55E15963-5C13-4ECF-BF45-DCD82BD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text-Crewmori supports the bu">
            <a:extLst xmlns:a="http://schemas.openxmlformats.org/drawingml/2006/main">
              <a:ext uri="{FF2B5EF4-FFF2-40B4-BE49-F238E27FC236}">
                <a16:creationId xmlns:a16="http://schemas.microsoft.com/office/drawing/2014/main" id="{ABA8A709-FDCF-45D6-9812-805A4F21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190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Crewmori supports the business around</a:t>
            </a:r>
          </a:p>
          <a:p xmlns:a="http://schemas.openxmlformats.org/drawingml/2006/main">
            <a:pPr algn="l">
              <a:def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commissioned professional work.</a:t>
            </a:r>
          </a:p>
        </p:txBody>
      </p:sp>
      <p:sp>
        <p:nvSpPr>
          <p:cNvPr id="7" name="text-Six specialists help fin">
            <a:extLst xmlns:a="http://schemas.openxmlformats.org/drawingml/2006/main">
              <a:ext uri="{FF2B5EF4-FFF2-40B4-BE49-F238E27FC236}">
                <a16:creationId xmlns:a16="http://schemas.microsoft.com/office/drawing/2014/main" id="{E2DC1685-2334-48E9-8EDE-BCB71A4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723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Six specialists help find opportunities, prepare promotion, support sales, manage client relationships, coordinate operations and check payment records.</a:t>
            </a:r>
          </a:p>
        </p:txBody>
      </p:sp>
      <p:sp>
        <p:nvSpPr>
          <p:cNvPr id="8" name="text-The freelancer performs ">
            <a:extLst xmlns:a="http://schemas.openxmlformats.org/drawingml/2006/main">
              <a:ext uri="{FF2B5EF4-FFF2-40B4-BE49-F238E27FC236}">
                <a16:creationId xmlns:a16="http://schemas.microsoft.com/office/drawing/2014/main" id="{90D50B26-416C-4F7F-B237-94AB9EC4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76675"/>
            <a:ext cx="4267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The freelancer performs the professional work and retains control over approval-required actions.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5CB3DC1-89AA-4381-A169-F0BA4EEA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0" name="text-Positioning: a freelance">
            <a:extLst xmlns:a="http://schemas.openxmlformats.org/drawingml/2006/main">
              <a:ext uri="{FF2B5EF4-FFF2-40B4-BE49-F238E27FC236}">
                <a16:creationId xmlns:a16="http://schemas.microsoft.com/office/drawing/2014/main" id="{810E44C1-B326-47C2-BCF7-BFEF7BAB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Positioning: a freelancer-owned AI business team that turns delegated business tasks into useful, reviewable outputs.</a:t>
            </a:r>
          </a:p>
        </p:txBody>
      </p:sp>
    </p:spTree>
    <p:extLst>
      <p:ext uri="{BB962C8B-B14F-4D97-AF65-F5344CB8AC3E}">
        <p14:creationId xmlns:p14="http://schemas.microsoft.com/office/powerpoint/2010/main" val="357125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BRAND FOUNDATION">
            <a:extLst xmlns:a="http://schemas.openxmlformats.org/drawingml/2006/main">
              <a:ext uri="{FF2B5EF4-FFF2-40B4-BE49-F238E27FC236}">
                <a16:creationId xmlns:a16="http://schemas.microsoft.com/office/drawing/2014/main" id="{E53B92D3-A562-4A21-ACDE-A3B08028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BRAND FOUNDATION</a:t>
            </a:r>
          </a:p>
        </p:txBody>
      </p:sp>
      <p:sp>
        <p:nvSpPr>
          <p:cNvPr id="2" name="text-Professional support wit">
            <a:extLst xmlns:a="http://schemas.openxmlformats.org/drawingml/2006/main">
              <a:ext uri="{FF2B5EF4-FFF2-40B4-BE49-F238E27FC236}">
                <a16:creationId xmlns:a16="http://schemas.microsoft.com/office/drawing/2014/main" id="{D18D6AEA-B286-4D7B-94BF-FBC231F6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Professional support with a human presence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BB2A351-AC8D-47B7-B19F-8AEBE232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8B783302-E3D4-44D9-91E5-10E7787A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4">
            <a:extLst xmlns:a="http://schemas.openxmlformats.org/drawingml/2006/main">
              <a:ext uri="{FF2B5EF4-FFF2-40B4-BE49-F238E27FC236}">
                <a16:creationId xmlns:a16="http://schemas.microsoft.com/office/drawing/2014/main" id="{9476014E-BFCE-4090-957B-3439160C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text-For the independent prof">
            <a:extLst xmlns:a="http://schemas.openxmlformats.org/drawingml/2006/main">
              <a:ext uri="{FF2B5EF4-FFF2-40B4-BE49-F238E27FC236}">
                <a16:creationId xmlns:a16="http://schemas.microsoft.com/office/drawing/2014/main" id="{28D57CAB-14F0-41D3-8605-21568F47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63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For the independent professional</a:t>
            </a:r>
          </a:p>
        </p:txBody>
      </p:sp>
      <p:sp>
        <p:nvSpPr>
          <p:cNvPr id="7" name="text-A capable team that feel">
            <a:extLst xmlns:a="http://schemas.openxmlformats.org/drawingml/2006/main">
              <a:ext uri="{FF2B5EF4-FFF2-40B4-BE49-F238E27FC236}">
                <a16:creationId xmlns:a16="http://schemas.microsoft.com/office/drawing/2014/main" id="{402263FF-594C-4C87-B7BD-5316967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638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 capable team that feels approachable and respects the owner’s independence.</a:t>
            </a:r>
          </a:p>
        </p:txBody>
      </p:sp>
      <p:sp>
        <p:nvSpPr>
          <p:cNvPr id="8" name="text-For the client">
            <a:extLst xmlns:a="http://schemas.openxmlformats.org/drawingml/2006/main">
              <a:ext uri="{FF2B5EF4-FFF2-40B4-BE49-F238E27FC236}">
                <a16:creationId xmlns:a16="http://schemas.microsoft.com/office/drawing/2014/main" id="{BFC110E5-E5AA-44B3-85B2-30A4DB13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9775"/>
            <a:ext cx="563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For the client</a:t>
            </a:r>
          </a:p>
        </p:txBody>
      </p:sp>
      <p:sp>
        <p:nvSpPr>
          <p:cNvPr id="9" name="text-A clear business identit">
            <a:extLst xmlns:a="http://schemas.openxmlformats.org/drawingml/2006/main">
              <a:ext uri="{FF2B5EF4-FFF2-40B4-BE49-F238E27FC236}">
                <a16:creationId xmlns:a16="http://schemas.microsoft.com/office/drawing/2014/main" id="{121F8430-F1F2-443E-841F-01ABD1C3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66975"/>
            <a:ext cx="5638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 clear business identity on proposals, invoices and pages that disclose an AI representative.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BA04793-073A-4B30-9928-A66832D2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1" name="text-Capable">
            <a:extLst xmlns:a="http://schemas.openxmlformats.org/drawingml/2006/main">
              <a:ext uri="{FF2B5EF4-FFF2-40B4-BE49-F238E27FC236}">
                <a16:creationId xmlns:a16="http://schemas.microsoft.com/office/drawing/2014/main" id="{4989082E-9604-42E3-B79E-AD765B0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Capable</a:t>
            </a:r>
          </a:p>
        </p:txBody>
      </p:sp>
      <p:sp>
        <p:nvSpPr>
          <p:cNvPr id="12" name="text-Specific work and useful">
            <a:extLst xmlns:a="http://schemas.openxmlformats.org/drawingml/2006/main">
              <a:ext uri="{FF2B5EF4-FFF2-40B4-BE49-F238E27FC236}">
                <a16:creationId xmlns:a16="http://schemas.microsoft.com/office/drawing/2014/main" id="{924631B2-0DD1-4052-A202-63CC13DB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Specific work and useful outputs</a:t>
            </a:r>
          </a:p>
        </p:txBody>
      </p:sp>
      <p:sp>
        <p:nvSpPr>
          <p:cNvPr id="13" name="text-Companionable">
            <a:extLst xmlns:a="http://schemas.openxmlformats.org/drawingml/2006/main">
              <a:ext uri="{FF2B5EF4-FFF2-40B4-BE49-F238E27FC236}">
                <a16:creationId xmlns:a16="http://schemas.microsoft.com/office/drawing/2014/main" id="{DCE0B107-ED57-4DB0-80EE-07556C92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29125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Companionable</a:t>
            </a:r>
          </a:p>
        </p:txBody>
      </p:sp>
      <p:sp>
        <p:nvSpPr>
          <p:cNvPr id="14" name="text-Warmth without childishn">
            <a:extLst xmlns:a="http://schemas.openxmlformats.org/drawingml/2006/main">
              <a:ext uri="{FF2B5EF4-FFF2-40B4-BE49-F238E27FC236}">
                <a16:creationId xmlns:a16="http://schemas.microsoft.com/office/drawing/2014/main" id="{AFBBD479-6DCA-49C6-B272-FA9CF0C9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958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Warmth without childishness</a:t>
            </a:r>
          </a:p>
        </p:txBody>
      </p:sp>
      <p:sp>
        <p:nvSpPr>
          <p:cNvPr id="15" name="text-Clear">
            <a:extLst xmlns:a="http://schemas.openxmlformats.org/drawingml/2006/main">
              <a:ext uri="{FF2B5EF4-FFF2-40B4-BE49-F238E27FC236}">
                <a16:creationId xmlns:a16="http://schemas.microsoft.com/office/drawing/2014/main" id="{8DB7B46C-968B-44C5-8B9E-72A772AB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29125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Clear</a:t>
            </a:r>
          </a:p>
        </p:txBody>
      </p:sp>
      <p:sp>
        <p:nvSpPr>
          <p:cNvPr id="16" name="text-Readable terms and next ">
            <a:extLst xmlns:a="http://schemas.openxmlformats.org/drawingml/2006/main">
              <a:ext uri="{FF2B5EF4-FFF2-40B4-BE49-F238E27FC236}">
                <a16:creationId xmlns:a16="http://schemas.microsoft.com/office/drawing/2014/main" id="{BEC9455D-C5F5-46DF-8646-5BA05DB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958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Readable terms and next actions</a:t>
            </a:r>
          </a:p>
        </p:txBody>
      </p:sp>
      <p:sp>
        <p:nvSpPr>
          <p:cNvPr id="17" name="text-Accountable">
            <a:extLst xmlns:a="http://schemas.openxmlformats.org/drawingml/2006/main">
              <a:ext uri="{FF2B5EF4-FFF2-40B4-BE49-F238E27FC236}">
                <a16:creationId xmlns:a16="http://schemas.microsoft.com/office/drawing/2014/main" id="{909E447E-CB99-4A2F-A41F-E49CD283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Accountable</a:t>
            </a:r>
          </a:p>
        </p:txBody>
      </p:sp>
      <p:sp>
        <p:nvSpPr>
          <p:cNvPr id="18" name="text-Visible ownership and ap">
            <a:extLst xmlns:a="http://schemas.openxmlformats.org/drawingml/2006/main">
              <a:ext uri="{FF2B5EF4-FFF2-40B4-BE49-F238E27FC236}">
                <a16:creationId xmlns:a16="http://schemas.microsoft.com/office/drawing/2014/main" id="{8ABDC5E0-82E1-4D6A-8C9D-FB7094E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958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Visible ownership and approvals</a:t>
            </a:r>
          </a:p>
        </p:txBody>
      </p:sp>
      <p:sp>
        <p:nvSpPr>
          <p:cNvPr id="19" name="text-These are intended brand">
            <a:extLst xmlns:a="http://schemas.openxmlformats.org/drawingml/2006/main">
              <a:ext uri="{FF2B5EF4-FFF2-40B4-BE49-F238E27FC236}">
                <a16:creationId xmlns:a16="http://schemas.microsoft.com/office/drawing/2014/main" id="{C6754DD6-37E7-4ABD-AA68-7945FCBC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These are intended brand qualities, not claims of measured customer preference.</a:t>
            </a:r>
          </a:p>
        </p:txBody>
      </p:sp>
    </p:spTree>
    <p:extLst>
      <p:ext uri="{BB962C8B-B14F-4D97-AF65-F5344CB8AC3E}">
        <p14:creationId xmlns:p14="http://schemas.microsoft.com/office/powerpoint/2010/main" val="1828841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BRAND FOUNDATION">
            <a:extLst xmlns:a="http://schemas.openxmlformats.org/drawingml/2006/main">
              <a:ext uri="{FF2B5EF4-FFF2-40B4-BE49-F238E27FC236}">
                <a16:creationId xmlns:a16="http://schemas.microsoft.com/office/drawing/2014/main" id="{70D4A314-B015-408D-8D36-D10AE2FE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BRAND FOUNDATION</a:t>
            </a:r>
          </a:p>
        </p:txBody>
      </p:sp>
      <p:sp>
        <p:nvSpPr>
          <p:cNvPr id="2" name="text-Identity principles">
            <a:extLst xmlns:a="http://schemas.openxmlformats.org/drawingml/2006/main">
              <a:ext uri="{FF2B5EF4-FFF2-40B4-BE49-F238E27FC236}">
                <a16:creationId xmlns:a16="http://schemas.microsoft.com/office/drawing/2014/main" id="{FAAD97FE-A729-436E-BD08-9E6D7B3D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Identity principles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1EFFFE6-05CF-41E8-BF09-05808464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53DA1137-4EA5-41E1-A281-7920B347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5">
            <a:extLst xmlns:a="http://schemas.openxmlformats.org/drawingml/2006/main">
              <a:ext uri="{FF2B5EF4-FFF2-40B4-BE49-F238E27FC236}">
                <a16:creationId xmlns:a16="http://schemas.microsoft.com/office/drawing/2014/main" id="{C6A43078-12C3-4884-A57F-C186901A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text-01">
            <a:extLst xmlns:a="http://schemas.openxmlformats.org/drawingml/2006/main">
              <a:ext uri="{FF2B5EF4-FFF2-40B4-BE49-F238E27FC236}">
                <a16:creationId xmlns:a16="http://schemas.microsoft.com/office/drawing/2014/main" id="{EA715F50-EAA9-411A-B401-B40C918D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text-The owner remains visibl">
            <a:extLst xmlns:a="http://schemas.openxmlformats.org/drawingml/2006/main">
              <a:ext uri="{FF2B5EF4-FFF2-40B4-BE49-F238E27FC236}">
                <a16:creationId xmlns:a16="http://schemas.microsoft.com/office/drawing/2014/main" id="{6E6125F1-60B6-419B-BEDE-2CEE198C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050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The owner remains visible</a:t>
            </a:r>
          </a:p>
        </p:txBody>
      </p:sp>
      <p:sp>
        <p:nvSpPr>
          <p:cNvPr id="8" name="text-Place decisions, respons">
            <a:extLst xmlns:a="http://schemas.openxmlformats.org/drawingml/2006/main">
              <a:ext uri="{FF2B5EF4-FFF2-40B4-BE49-F238E27FC236}">
                <a16:creationId xmlns:a16="http://schemas.microsoft.com/office/drawing/2014/main" id="{430BC479-1959-49DB-8B20-01A73D81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907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Place decisions, responsibility and approval controls where they can be understood.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D67139D-54C6-4FF1-A647-BBEFB44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38450"/>
            <a:ext cx="1144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0" name="text-02">
            <a:extLst xmlns:a="http://schemas.openxmlformats.org/drawingml/2006/main">
              <a:ext uri="{FF2B5EF4-FFF2-40B4-BE49-F238E27FC236}">
                <a16:creationId xmlns:a16="http://schemas.microsoft.com/office/drawing/2014/main" id="{B26DDB56-A9EC-4F03-8BD9-27225C18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text-Useful work leads">
            <a:extLst xmlns:a="http://schemas.openxmlformats.org/drawingml/2006/main">
              <a:ext uri="{FF2B5EF4-FFF2-40B4-BE49-F238E27FC236}">
                <a16:creationId xmlns:a16="http://schemas.microsoft.com/office/drawing/2014/main" id="{F4CCCFCD-6DD1-4393-87AB-1BBCA3B2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28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Useful work leads</a:t>
            </a:r>
          </a:p>
        </p:txBody>
      </p:sp>
      <p:sp>
        <p:nvSpPr>
          <p:cNvPr id="12" name="text-Show the artifact, its s">
            <a:extLst xmlns:a="http://schemas.openxmlformats.org/drawingml/2006/main">
              <a:ext uri="{FF2B5EF4-FFF2-40B4-BE49-F238E27FC236}">
                <a16:creationId xmlns:a16="http://schemas.microsoft.com/office/drawing/2014/main" id="{50702A4C-98FA-4435-AC50-77C9BF1D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147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Show the artifact, its state and the next action. Keep technology claims secondary.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E63BE571-A5CD-46A6-A301-E5F688EC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62400"/>
            <a:ext cx="1144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4" name="text-03">
            <a:extLst xmlns:a="http://schemas.openxmlformats.org/drawingml/2006/main">
              <a:ext uri="{FF2B5EF4-FFF2-40B4-BE49-F238E27FC236}">
                <a16:creationId xmlns:a16="http://schemas.microsoft.com/office/drawing/2014/main" id="{C44E48D4-644F-45C7-A9F8-89F71C23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text-Personality has a place">
            <a:extLst xmlns:a="http://schemas.openxmlformats.org/drawingml/2006/main">
              <a:ext uri="{FF2B5EF4-FFF2-40B4-BE49-F238E27FC236}">
                <a16:creationId xmlns:a16="http://schemas.microsoft.com/office/drawing/2014/main" id="{B5A14A64-7C46-4CFB-817A-C03F7C30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5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Personality has a place</a:t>
            </a:r>
          </a:p>
        </p:txBody>
      </p:sp>
      <p:sp>
        <p:nvSpPr>
          <p:cNvPr id="16" name="text-Coworkers supply express">
            <a:extLst xmlns:a="http://schemas.openxmlformats.org/drawingml/2006/main">
              <a:ext uri="{FF2B5EF4-FFF2-40B4-BE49-F238E27FC236}">
                <a16:creationId xmlns:a16="http://schemas.microsoft.com/office/drawing/2014/main" id="{0CD42380-6953-45C7-8790-FB4192DE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Coworkers supply expression. The core mark remains stable and recognizable.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B9092E49-A40F-413B-B6A2-021A64B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86350"/>
            <a:ext cx="1144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8" name="text-04">
            <a:extLst xmlns:a="http://schemas.openxmlformats.org/drawingml/2006/main">
              <a:ext uri="{FF2B5EF4-FFF2-40B4-BE49-F238E27FC236}">
                <a16:creationId xmlns:a16="http://schemas.microsoft.com/office/drawing/2014/main" id="{3426571B-6B84-4DAA-8066-896FF508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9" name="text-Calm design earns attent">
            <a:extLst xmlns:a="http://schemas.openxmlformats.org/drawingml/2006/main">
              <a:ext uri="{FF2B5EF4-FFF2-40B4-BE49-F238E27FC236}">
                <a16:creationId xmlns:a16="http://schemas.microsoft.com/office/drawing/2014/main" id="{8F9C733A-3013-4C0D-9210-3E7E5E5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768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Calm design earns attention</a:t>
            </a:r>
          </a:p>
        </p:txBody>
      </p:sp>
      <p:sp>
        <p:nvSpPr>
          <p:cNvPr id="20" name="text-Use hierarchy, space and">
            <a:extLst xmlns:a="http://schemas.openxmlformats.org/drawingml/2006/main">
              <a:ext uri="{FF2B5EF4-FFF2-40B4-BE49-F238E27FC236}">
                <a16:creationId xmlns:a16="http://schemas.microsoft.com/office/drawing/2014/main" id="{45E01A2B-FF79-494E-9F86-E803C4C0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626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Use hierarchy, space and one dominant action rather than constant animation.</a:t>
            </a:r>
          </a:p>
        </p:txBody>
      </p:sp>
    </p:spTree>
    <p:extLst>
      <p:ext uri="{BB962C8B-B14F-4D97-AF65-F5344CB8AC3E}">
        <p14:creationId xmlns:p14="http://schemas.microsoft.com/office/powerpoint/2010/main" val="669612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BRAND FOUNDATION">
            <a:extLst xmlns:a="http://schemas.openxmlformats.org/drawingml/2006/main">
              <a:ext uri="{FF2B5EF4-FFF2-40B4-BE49-F238E27FC236}">
                <a16:creationId xmlns:a16="http://schemas.microsoft.com/office/drawing/2014/main" id="{B5FD5E64-9329-4842-A69A-1B8309F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BRAND FOUNDATION</a:t>
            </a:r>
          </a:p>
        </p:txBody>
      </p:sp>
      <p:sp>
        <p:nvSpPr>
          <p:cNvPr id="2" name="text-Voice and interface copy">
            <a:extLst xmlns:a="http://schemas.openxmlformats.org/drawingml/2006/main">
              <a:ext uri="{FF2B5EF4-FFF2-40B4-BE49-F238E27FC236}">
                <a16:creationId xmlns:a16="http://schemas.microsoft.com/office/drawing/2014/main" id="{3D9B7886-3A74-47FF-9C06-A081C45A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Voice and interface copy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F68055E-6E7D-43E1-82EB-62C91EB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151C9728-737F-433E-B030-BE5A7FA6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6">
            <a:extLst xmlns:a="http://schemas.openxmlformats.org/drawingml/2006/main">
              <a:ext uri="{FF2B5EF4-FFF2-40B4-BE49-F238E27FC236}">
                <a16:creationId xmlns:a16="http://schemas.microsoft.com/office/drawing/2014/main" id="{87E17D67-BB98-4695-A964-4EF86035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text-Friendly, capable and fa">
            <a:extLst xmlns:a="http://schemas.openxmlformats.org/drawingml/2006/main">
              <a:ext uri="{FF2B5EF4-FFF2-40B4-BE49-F238E27FC236}">
                <a16:creationId xmlns:a16="http://schemas.microsoft.com/office/drawing/2014/main" id="{AAFABF39-34BE-4C4A-872C-633928D8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219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Friendly, capable and factual. Name the output and the next useful action.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851E3-0A9F-4790-A3BD-AA11E6B5753E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2496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619750"/>
                <a:gridCol w="4733925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Situation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example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Draft ready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Your proposal draft is ready to review.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Describe the artifact and its state.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 decision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 proposal v3 for Alex?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Name the version and destination.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Waiting for input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delivery date can you commit to?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Ask one concrete question.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Handoff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Scout shared the brief with Sales.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Name sender, receiver and output.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Recovery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Scope changed. Review this version again.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what needs attention.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8" name="text-“Saved”, “sent”, “connec">
            <a:extLst xmlns:a="http://schemas.openxmlformats.org/drawingml/2006/main">
              <a:ext uri="{FF2B5EF4-FFF2-40B4-BE49-F238E27FC236}">
                <a16:creationId xmlns:a16="http://schemas.microsoft.com/office/drawing/2014/main" id="{F47FBF94-B81B-4906-B94F-D5089C96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“Saved”, “sent”, “connected” and “completed” appear only after the corresponding confirmed event. Buyer pages disclose AI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00498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35820F7B-C4A0-40CE-80CE-F26A3ED6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29BECD05-CDF9-40E2-A7DC-C48CEB25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Logo system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61646F8-0839-497B-A686-D488BF56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AA98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843723CF-0F4E-452E-A06A-E38300C3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7">
            <a:extLst xmlns:a="http://schemas.openxmlformats.org/drawingml/2006/main">
              <a:ext uri="{FF2B5EF4-FFF2-40B4-BE49-F238E27FC236}">
                <a16:creationId xmlns:a16="http://schemas.microsoft.com/office/drawing/2014/main" id="{ED635FAD-C8C6-4DE5-8DEC-AADC6087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CD2D1-3FAE-453F-BCBB-F564D9E187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3a4ed58c04447">
            <a:extLst>
              <a:ext uri="{96DAC541-7B7A-43D3-8B79-37D633B846F1}">
                <asvg:svgBlip xmlns:asvg="http://schemas.microsoft.com/office/drawing/2016/SVG/main" r:embed="R4c8afd967a1c49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0" y="1828800"/>
            <a:ext cx="4381500" cy="4381500"/>
          </a:xfrm>
          <a:prstGeom xmlns:a="http://schemas.openxmlformats.org/drawingml/2006/main" prst="rect">
            <a:avLst/>
          </a:prstGeom>
        </p:spPr>
      </p:pic>
      <p:sp>
        <p:nvSpPr>
          <p:cNvPr id="7" name="text-Working Seam">
            <a:extLst xmlns:a="http://schemas.openxmlformats.org/drawingml/2006/main">
              <a:ext uri="{FF2B5EF4-FFF2-40B4-BE49-F238E27FC236}">
                <a16:creationId xmlns:a16="http://schemas.microsoft.com/office/drawing/2014/main" id="{1BC89CF8-C7D3-42A2-9B98-C749054A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51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51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Working Seam</a:t>
            </a:r>
          </a:p>
        </p:txBody>
      </p:sp>
      <p:sp>
        <p:nvSpPr>
          <p:cNvPr id="8" name="text-Two complementary bands.">
            <a:extLst xmlns:a="http://schemas.openxmlformats.org/drawingml/2006/main">
              <a:ext uri="{FF2B5EF4-FFF2-40B4-BE49-F238E27FC236}">
                <a16:creationId xmlns:a16="http://schemas.microsoft.com/office/drawing/2014/main" id="{EDEC5E31-1DB7-4486-9FCD-F244A8F7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Two complementary bands.</a:t>
            </a:r>
          </a:p>
          <a:p xmlns:a="http://schemas.openxmlformats.org/drawingml/2006/main">
            <a:pPr algn="l">
              <a:defRPr sz="2325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One recognizable business identity.</a:t>
            </a:r>
          </a:p>
        </p:txBody>
      </p:sp>
    </p:spTree>
    <p:extLst>
      <p:ext uri="{BB962C8B-B14F-4D97-AF65-F5344CB8AC3E}">
        <p14:creationId xmlns:p14="http://schemas.microsoft.com/office/powerpoint/2010/main" val="712775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3007D98F-E9F4-4977-A7A6-1649F029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The primary logo">
            <a:extLst xmlns:a="http://schemas.openxmlformats.org/drawingml/2006/main">
              <a:ext uri="{FF2B5EF4-FFF2-40B4-BE49-F238E27FC236}">
                <a16:creationId xmlns:a16="http://schemas.microsoft.com/office/drawing/2014/main" id="{8C8C1D8F-F163-4A87-95EB-F2C8E4CB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The primary logo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B97AB9C-9A8C-4111-8687-F121059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61F91821-6086-49CC-8E0A-0FD2CBA8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8">
            <a:extLst xmlns:a="http://schemas.openxmlformats.org/drawingml/2006/main">
              <a:ext uri="{FF2B5EF4-FFF2-40B4-BE49-F238E27FC236}">
                <a16:creationId xmlns:a16="http://schemas.microsoft.com/office/drawing/2014/main" id="{85063588-2195-4D2B-B89E-5AA220EA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0000E-FDDC-4C24-8265-D018138D2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7c03b0f70406b">
            <a:extLst>
              <a:ext uri="{96DAC541-7B7A-43D3-8B79-37D633B846F1}">
                <asvg:svgBlip xmlns:asvg="http://schemas.microsoft.com/office/drawing/2016/SVG/main" r:embed="Rec34dc823f1d4c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1828800"/>
            <a:ext cx="11430000" cy="3039737"/>
          </a:xfrm>
          <a:prstGeom xmlns:a="http://schemas.openxmlformats.org/drawingml/2006/main" prst="rect">
            <a:avLst/>
          </a:prstGeom>
        </p:spPr>
      </p:pic>
      <p:sp>
        <p:nvSpPr>
          <p:cNvPr id="7" name="text-The visible idea">
            <a:extLst xmlns:a="http://schemas.openxmlformats.org/drawingml/2006/main">
              <a:ext uri="{FF2B5EF4-FFF2-40B4-BE49-F238E27FC236}">
                <a16:creationId xmlns:a16="http://schemas.microsoft.com/office/drawing/2014/main" id="{0E61EEAD-C6A0-4453-A0D1-37715186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The visible idea</a:t>
            </a:r>
          </a:p>
        </p:txBody>
      </p:sp>
      <p:sp>
        <p:nvSpPr>
          <p:cNvPr id="8" name="text-Two distinct contributio">
            <a:extLst xmlns:a="http://schemas.openxmlformats.org/drawingml/2006/main">
              <a:ext uri="{FF2B5EF4-FFF2-40B4-BE49-F238E27FC236}">
                <a16:creationId xmlns:a16="http://schemas.microsoft.com/office/drawing/2014/main" id="{DC835B09-80B7-4E74-A266-60AC423F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590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Two distinct contributions relate through one open seam. The construction suggests a coordinated handoff.</a:t>
            </a:r>
          </a:p>
        </p:txBody>
      </p:sp>
      <p:sp>
        <p:nvSpPr>
          <p:cNvPr id="9" name="text-The brand relationship">
            <a:extLst xmlns:a="http://schemas.openxmlformats.org/drawingml/2006/main">
              <a:ext uri="{FF2B5EF4-FFF2-40B4-BE49-F238E27FC236}">
                <a16:creationId xmlns:a16="http://schemas.microsoft.com/office/drawing/2014/main" id="{D5AC9641-0084-494A-9399-8319DA5D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76850"/>
            <a:ext cx="563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The brand relationship</a:t>
            </a:r>
          </a:p>
        </p:txBody>
      </p:sp>
      <p:sp>
        <p:nvSpPr>
          <p:cNvPr id="10" name="text-The stable symbol sits b">
            <a:extLst xmlns:a="http://schemas.openxmlformats.org/drawingml/2006/main">
              <a:ext uri="{FF2B5EF4-FFF2-40B4-BE49-F238E27FC236}">
                <a16:creationId xmlns:a16="http://schemas.microsoft.com/office/drawing/2014/main" id="{CF010C62-7BAB-46D7-935F-61893DED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34050"/>
            <a:ext cx="5638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The stable symbol sits beside an editorial wordmark. Coworkers add expression around the identity.</a:t>
            </a:r>
          </a:p>
        </p:txBody>
      </p:sp>
    </p:spTree>
    <p:extLst>
      <p:ext uri="{BB962C8B-B14F-4D97-AF65-F5344CB8AC3E}">
        <p14:creationId xmlns:p14="http://schemas.microsoft.com/office/powerpoint/2010/main" val="1408377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CD9401B6-7DFC-4E05-A895-A3DD1C66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Construction and proport">
            <a:extLst xmlns:a="http://schemas.openxmlformats.org/drawingml/2006/main">
              <a:ext uri="{FF2B5EF4-FFF2-40B4-BE49-F238E27FC236}">
                <a16:creationId xmlns:a16="http://schemas.microsoft.com/office/drawing/2014/main" id="{BBDCEADA-A6D3-4C27-BBCE-1AE5456E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Construction and proportion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5BFCF5E-50B5-41E4-B9E2-D500606C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3DEEEE40-7414-4538-A131-49A0AA32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09">
            <a:extLst xmlns:a="http://schemas.openxmlformats.org/drawingml/2006/main">
              <a:ext uri="{FF2B5EF4-FFF2-40B4-BE49-F238E27FC236}">
                <a16:creationId xmlns:a16="http://schemas.microsoft.com/office/drawing/2014/main" id="{B6ECB4C2-9CA3-4890-98AD-B1649CE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88C315DB-5B2A-4C5F-AE7A-7A65E964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E32C6FB7-7DDB-42CE-85BF-CFCADE6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050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C463EED6-7024-40CC-8420-F4460777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25D2C82-591F-4083-868F-4CC76F47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A85D2D3-20E4-450C-A18C-7AE5E34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519883F3-6358-41D5-ABE5-3696848F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717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CCFE0F9-C921-410F-8BE5-EB7655B0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A6E26FEF-0DBA-4075-9823-11334A58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474B1A4-6F9A-4B1C-9149-ED63CEA0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E7D2329-BE4E-42C6-9B3C-92E729C5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385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FCBC9C87-9ABE-48FF-892B-4794D994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6AA1835-B42E-47DF-8171-DF6483CD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EE8BA97A-CD1F-461B-AC07-417AC07D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A616B3B5-87BD-4D41-B28C-FE951802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052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031E0B1F-A87B-4E9E-85B1-DC6875D6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8EC95574-519C-415A-9688-D9527793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8D82E9C0-4652-47C2-869B-CBE6C9E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78B430F4-46CC-4477-AF18-C8D36EAB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147EB29B-EB93-4654-A0DA-F7297AA0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196C481A-36C6-4D42-9919-A621B0B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0D9C3B4F-F594-478D-8396-2C1747BA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50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7752D0F4-FFB3-4E63-9BC8-557849C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DE"/>
            </a:solidFill>
            <a:prstDash val="solid"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0D125D-E290-4A87-A3E3-41E1BC080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94694c0894013">
            <a:extLst>
              <a:ext uri="{96DAC541-7B7A-43D3-8B79-37D633B846F1}">
                <asvg:svgBlip xmlns:asvg="http://schemas.microsoft.com/office/drawing/2016/SVG/main" r:embed="R68e04748891b47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2105025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8CFE3BC8-8E02-4226-837E-BD26037F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3431"/>
            </a:solidFill>
            <a:prstDash val="solid"/>
          </a:ln>
        </p:spPr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A9BB0FAD-BB8C-4EEB-8370-2BA7FD17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50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3431"/>
            </a:solidFill>
            <a:prstDash val="solid"/>
          </a:ln>
        </p:spPr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D143B5ED-F4F1-4CBC-82EE-0059B93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3431"/>
            </a:solidFill>
            <a:prstDash val="solid"/>
          </a:ln>
        </p:spPr>
      </p:sp>
      <p:sp>
        <p:nvSpPr>
          <p:cNvPr id="32" name="text-x">
            <a:extLst xmlns:a="http://schemas.openxmlformats.org/drawingml/2006/main">
              <a:ext uri="{FF2B5EF4-FFF2-40B4-BE49-F238E27FC236}">
                <a16:creationId xmlns:a16="http://schemas.microsoft.com/office/drawing/2014/main" id="{6926B050-EA03-4F7A-920E-DEB3D78B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0032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rPr>
              <a:t>x</a:t>
            </a:r>
          </a:p>
        </p:txBody>
      </p:sp>
      <p:sp>
        <p:nvSpPr>
          <p:cNvPr id="33" name="text-x = 22 raw units">
            <a:extLst xmlns:a="http://schemas.openxmlformats.org/drawingml/2006/main">
              <a:ext uri="{FF2B5EF4-FFF2-40B4-BE49-F238E27FC236}">
                <a16:creationId xmlns:a16="http://schemas.microsoft.com/office/drawing/2014/main" id="{0051DB4D-9216-4BE0-9D10-A9D2BAD0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9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x = 22 raw units</a:t>
            </a:r>
          </a:p>
        </p:txBody>
      </p:sp>
      <p:sp>
        <p:nvSpPr>
          <p:cNvPr id="34" name="text-Measure x vertically acr">
            <a:extLst xmlns:a="http://schemas.openxmlformats.org/drawingml/2006/main">
              <a:ext uri="{FF2B5EF4-FFF2-40B4-BE49-F238E27FC236}">
                <a16:creationId xmlns:a16="http://schemas.microsoft.com/office/drawing/2014/main" id="{2D3880A6-8FDE-4E90-9099-CC8FFE3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647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Measure x vertically across a horizontal band.</a:t>
            </a:r>
          </a:p>
          <a:p xmlns:a="http://schemas.openxmlformats.org/drawingml/2006/main">
            <a:pPr algn="l">
              <a:defRPr sz="18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The visible symbol measures 84 × 76 units.</a:t>
            </a:r>
          </a:p>
        </p:txBody>
      </p:sp>
      <p:sp>
        <p:nvSpPr>
          <p:cNvPr id="35" name="text-Horizontal gap: x&#10;Wordma">
            <a:extLst xmlns:a="http://schemas.openxmlformats.org/drawingml/2006/main">
              <a:ext uri="{FF2B5EF4-FFF2-40B4-BE49-F238E27FC236}">
                <a16:creationId xmlns:a16="http://schemas.microsoft.com/office/drawing/2014/main" id="{639E0015-C8D1-4C2E-BA0B-0A3CAE74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6477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Horizontal gap: x</a:t>
            </a:r>
          </a:p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Wordmark cap height: 55% of symbol height</a:t>
            </a:r>
          </a:p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Relationship between bands: 180° rotation</a:t>
            </a:r>
          </a:p>
        </p:txBody>
      </p:sp>
      <p:sp>
        <p:nvSpPr>
          <p:cNvPr id="36" name="text-Use supplied artwork. Th">
            <a:extLst xmlns:a="http://schemas.openxmlformats.org/drawingml/2006/main">
              <a:ext uri="{FF2B5EF4-FFF2-40B4-BE49-F238E27FC236}">
                <a16:creationId xmlns:a16="http://schemas.microsoft.com/office/drawing/2014/main" id="{844D4FA0-4741-4F06-B1F3-11D3815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Use supplied artwork. The wordmark’s visible bounds are vertically centered against the symbol; its round-letter overshoot stays intact.</a:t>
            </a:r>
          </a:p>
        </p:txBody>
      </p:sp>
    </p:spTree>
    <p:extLst>
      <p:ext uri="{BB962C8B-B14F-4D97-AF65-F5344CB8AC3E}">
        <p14:creationId xmlns:p14="http://schemas.microsoft.com/office/powerpoint/2010/main" val="1908044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4ED6D568-6471-48D2-8683-B662E7F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Clear space">
            <a:extLst xmlns:a="http://schemas.openxmlformats.org/drawingml/2006/main">
              <a:ext uri="{FF2B5EF4-FFF2-40B4-BE49-F238E27FC236}">
                <a16:creationId xmlns:a16="http://schemas.microsoft.com/office/drawing/2014/main" id="{A0D84668-619E-4D92-B96D-49DA44C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Clear space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A24D58B-FD43-4E73-A9D4-24D2741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39E15C53-A2ED-48B3-8BE7-C584E6AE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7BCCC15B-975A-47B8-B81D-9398B317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165E8D53-D5EA-4228-9D41-F9FAC9D7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11430000" cy="303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60F8F-1973-48A7-9FF2-73D4B84ED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229058d5e4cff">
            <a:extLst>
              <a:ext uri="{96DAC541-7B7A-43D3-8B79-37D633B846F1}">
                <asvg:svgBlip xmlns:asvg="http://schemas.microsoft.com/office/drawing/2016/SVG/main" r:embed="Rc10f3209245940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2571750"/>
            <a:ext cx="11430000" cy="3039737"/>
          </a:xfrm>
          <a:prstGeom xmlns:a="http://schemas.openxmlformats.org/drawingml/2006/main" prst="rect">
            <a:avLst/>
          </a:prstGeom>
        </p:spPr>
      </p:pic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0A8CFBD-D621-4E00-B4AB-E5887E2A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85" y="3129035"/>
            <a:ext cx="10315430" cy="1925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BB0"/>
            </a:solidFill>
            <a:prstDash val="solid"/>
          </a:ln>
        </p:spPr>
      </p:sp>
      <p:sp>
        <p:nvSpPr>
          <p:cNvPr id="9" name="text-x">
            <a:extLst xmlns:a="http://schemas.openxmlformats.org/drawingml/2006/main">
              <a:ext uri="{FF2B5EF4-FFF2-40B4-BE49-F238E27FC236}">
                <a16:creationId xmlns:a16="http://schemas.microsoft.com/office/drawing/2014/main" id="{2D9810B7-6C10-45BF-92A8-C9E7079A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093" y="3920169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rPr>
              <a:t>x</a:t>
            </a:r>
          </a:p>
        </p:txBody>
      </p:sp>
      <p:sp>
        <p:nvSpPr>
          <p:cNvPr id="10" name="text-x">
            <a:extLst xmlns:a="http://schemas.openxmlformats.org/drawingml/2006/main">
              <a:ext uri="{FF2B5EF4-FFF2-40B4-BE49-F238E27FC236}">
                <a16:creationId xmlns:a16="http://schemas.microsoft.com/office/drawing/2014/main" id="{B8E29836-7745-4E55-BB0E-84B56866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807" y="3920169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rPr>
              <a:t>x</a:t>
            </a:r>
          </a:p>
        </p:txBody>
      </p:sp>
      <p:sp>
        <p:nvSpPr>
          <p:cNvPr id="11" name="text-x">
            <a:extLst xmlns:a="http://schemas.openxmlformats.org/drawingml/2006/main">
              <a:ext uri="{FF2B5EF4-FFF2-40B4-BE49-F238E27FC236}">
                <a16:creationId xmlns:a16="http://schemas.microsoft.com/office/drawing/2014/main" id="{57D8C1EB-4282-46A0-9639-6FA27C9C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8943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rPr>
              <a:t>x</a:t>
            </a:r>
          </a:p>
        </p:txBody>
      </p:sp>
      <p:sp>
        <p:nvSpPr>
          <p:cNvPr id="12" name="text-x">
            <a:extLst xmlns:a="http://schemas.openxmlformats.org/drawingml/2006/main">
              <a:ext uri="{FF2B5EF4-FFF2-40B4-BE49-F238E27FC236}">
                <a16:creationId xmlns:a16="http://schemas.microsoft.com/office/drawing/2014/main" id="{83A87576-709F-4F68-83DB-D316E77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6139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9B3431"/>
                </a:solidFill>
                <a:latin typeface="DejaVu Serif"/>
                <a:ea typeface="DejaVu Serif"/>
                <a:cs typeface="DejaVu Serif"/>
              </a:rPr>
              <a:t>x</a:t>
            </a:r>
          </a:p>
        </p:txBody>
      </p:sp>
      <p:sp>
        <p:nvSpPr>
          <p:cNvPr id="13" name="text-Minimum clear space = on">
            <a:extLst xmlns:a="http://schemas.openxmlformats.org/drawingml/2006/main">
              <a:ext uri="{FF2B5EF4-FFF2-40B4-BE49-F238E27FC236}">
                <a16:creationId xmlns:a16="http://schemas.microsoft.com/office/drawing/2014/main" id="{4921A737-B3DB-4EBB-ABC3-740DE83C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219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Minimum clear space = one ribbon thickness</a:t>
            </a:r>
          </a:p>
        </p:txBody>
      </p:sp>
      <p:sp>
        <p:nvSpPr>
          <p:cNvPr id="14" name="text-Measure from visible art">
            <a:extLst xmlns:a="http://schemas.openxmlformats.org/drawingml/2006/main">
              <a:ext uri="{FF2B5EF4-FFF2-40B4-BE49-F238E27FC236}">
                <a16:creationId xmlns:a16="http://schemas.microsoft.com/office/drawing/2014/main" id="{57D628B5-A620-47AE-9CDE-66ACEA74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Measure from visible artwork, including the tips. Supplied production canvases already include x on every side. Text, images and characters stay outside it.</a:t>
            </a:r>
          </a:p>
        </p:txBody>
      </p:sp>
    </p:spTree>
    <p:extLst>
      <p:ext uri="{BB962C8B-B14F-4D97-AF65-F5344CB8AC3E}">
        <p14:creationId xmlns:p14="http://schemas.microsoft.com/office/powerpoint/2010/main" val="9544727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F36C4665-0EAC-4859-84AC-A4F941E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The logo family">
            <a:extLst xmlns:a="http://schemas.openxmlformats.org/drawingml/2006/main">
              <a:ext uri="{FF2B5EF4-FFF2-40B4-BE49-F238E27FC236}">
                <a16:creationId xmlns:a16="http://schemas.microsoft.com/office/drawing/2014/main" id="{E5F7A81A-BDEC-4D0F-82AE-EA34AF07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The logo family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DD60270-46AD-43E4-88A3-EC1C97E1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6A117552-A528-4E0B-82F0-1447626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1614E465-1099-4B76-B1BD-0AA6A1B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92A50-F93E-4F17-AC1E-CEFAE5AD6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b53313c854f3a">
            <a:extLst>
              <a:ext uri="{96DAC541-7B7A-43D3-8B79-37D633B846F1}">
                <asvg:svgBlip xmlns:asvg="http://schemas.microsoft.com/office/drawing/2016/SVG/main" r:embed="R53e97a7ca01946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5775" y="2028825"/>
            <a:ext cx="7239000" cy="1925167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24FD3-59C1-470F-BF52-562DB36D0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9ebc89e67484e">
            <a:extLst>
              <a:ext uri="{96DAC541-7B7A-43D3-8B79-37D633B846F1}">
                <asvg:svgBlip xmlns:asvg="http://schemas.microsoft.com/office/drawing/2016/SVG/main" r:embed="Rb0153897589e4f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63050" y="1809750"/>
            <a:ext cx="3409950" cy="1840931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43612-7745-441C-9538-6FCFA9862A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565b0088e4376">
            <a:extLst>
              <a:ext uri="{96DAC541-7B7A-43D3-8B79-37D633B846F1}">
                <asvg:svgBlip xmlns:asvg="http://schemas.microsoft.com/office/drawing/2016/SVG/main" r:embed="R135a2fb2f05345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" y="4724400"/>
            <a:ext cx="1466850" cy="1466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58E48-FD4E-431C-9FCE-F8B014AFD3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7b076f2694740">
            <a:extLst>
              <a:ext uri="{96DAC541-7B7A-43D3-8B79-37D633B846F1}">
                <asvg:svgBlip xmlns:asvg="http://schemas.microsoft.com/office/drawing/2016/SVG/main" r:embed="R25f9aa003f4d4a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67175" y="4867275"/>
            <a:ext cx="5334000" cy="1365483"/>
          </a:xfrm>
          <a:prstGeom xmlns:a="http://schemas.openxmlformats.org/drawingml/2006/main" prst="rect">
            <a:avLst/>
          </a:prstGeom>
        </p:spPr>
      </p:pic>
      <p:sp>
        <p:nvSpPr>
          <p:cNvPr id="10" name="text-Primary / horizontal">
            <a:extLst xmlns:a="http://schemas.openxmlformats.org/drawingml/2006/main">
              <a:ext uri="{FF2B5EF4-FFF2-40B4-BE49-F238E27FC236}">
                <a16:creationId xmlns:a16="http://schemas.microsoft.com/office/drawing/2014/main" id="{B6B32CF0-3E03-46E4-9F08-568A2B7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Primary / horizontal</a:t>
            </a:r>
          </a:p>
        </p:txBody>
      </p:sp>
      <p:sp>
        <p:nvSpPr>
          <p:cNvPr id="11" name="text-Stacked">
            <a:extLst xmlns:a="http://schemas.openxmlformats.org/drawingml/2006/main">
              <a:ext uri="{FF2B5EF4-FFF2-40B4-BE49-F238E27FC236}">
                <a16:creationId xmlns:a16="http://schemas.microsoft.com/office/drawing/2014/main" id="{4173F4A5-C510-4F29-8CF0-9652D838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386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Stacked</a:t>
            </a:r>
          </a:p>
        </p:txBody>
      </p:sp>
      <p:sp>
        <p:nvSpPr>
          <p:cNvPr id="12" name="text-Symbol">
            <a:extLst xmlns:a="http://schemas.openxmlformats.org/drawingml/2006/main">
              <a:ext uri="{FF2B5EF4-FFF2-40B4-BE49-F238E27FC236}">
                <a16:creationId xmlns:a16="http://schemas.microsoft.com/office/drawing/2014/main" id="{FA01A6FB-0A84-4BEF-B3CF-8EAFC34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769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Symbol</a:t>
            </a:r>
          </a:p>
        </p:txBody>
      </p:sp>
      <p:sp>
        <p:nvSpPr>
          <p:cNvPr id="13" name="text-Wordmark">
            <a:extLst xmlns:a="http://schemas.openxmlformats.org/drawingml/2006/main">
              <a:ext uri="{FF2B5EF4-FFF2-40B4-BE49-F238E27FC236}">
                <a16:creationId xmlns:a16="http://schemas.microsoft.com/office/drawing/2014/main" id="{1C31525B-A20C-4827-A5EB-05704EF3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2769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Wordmark</a:t>
            </a:r>
          </a:p>
        </p:txBody>
      </p:sp>
      <p:sp>
        <p:nvSpPr>
          <p:cNvPr id="14" name="text-Horizontal is the defaul">
            <a:extLst xmlns:a="http://schemas.openxmlformats.org/drawingml/2006/main">
              <a:ext uri="{FF2B5EF4-FFF2-40B4-BE49-F238E27FC236}">
                <a16:creationId xmlns:a16="http://schemas.microsoft.com/office/drawing/2014/main" id="{93C3D969-2134-49D2-A6F5-BF420E27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Horizontal is the default. Use stacked for compact brand panels, symbol for constrained slots, and supplied wordmark only when the symbol already appears nearby.</a:t>
            </a:r>
          </a:p>
        </p:txBody>
      </p:sp>
    </p:spTree>
    <p:extLst>
      <p:ext uri="{BB962C8B-B14F-4D97-AF65-F5344CB8AC3E}">
        <p14:creationId xmlns:p14="http://schemas.microsoft.com/office/powerpoint/2010/main" val="20606815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3F6C9592-F826-49A0-89B2-DBF8E9D9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Minimum sizes and compac">
            <a:extLst xmlns:a="http://schemas.openxmlformats.org/drawingml/2006/main">
              <a:ext uri="{FF2B5EF4-FFF2-40B4-BE49-F238E27FC236}">
                <a16:creationId xmlns:a16="http://schemas.microsoft.com/office/drawing/2014/main" id="{F976429C-B035-471F-8967-AC337805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Minimum sizes and compact icons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54E8826-19F4-4E0E-A5B6-1B4571C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3A7300CB-BC62-4284-8B3E-ED8F8E82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A7A58C57-C9E0-4C3D-9DAC-16A266A9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3F00D-F1D4-4AB7-9CDC-BE70C22C7024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7429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143125"/>
                <a:gridCol w="2143125"/>
              </a:tblGrid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Digital canvas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Print canvas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/ horizontal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px wide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 mm wide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Stacked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 px wide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 mm wide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Wordmark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px wide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 mm wide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 symbol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× 24 px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× 6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7" name="text-Browser favicon">
            <a:extLst xmlns:a="http://schemas.openxmlformats.org/drawingml/2006/main">
              <a:ext uri="{FF2B5EF4-FFF2-40B4-BE49-F238E27FC236}">
                <a16:creationId xmlns:a16="http://schemas.microsoft.com/office/drawing/2014/main" id="{2B90D699-B703-432D-8E0B-7C96348D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716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Browser favicon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504B6-0592-4003-BAFA-4F13732060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ebc610a504459"/>
          <a:stretch xmlns:a="http://schemas.openxmlformats.org/drawingml/2006/main"/>
        </p:blipFill>
        <p:spPr>
          <a:xfrm xmlns:a="http://schemas.openxmlformats.org/drawingml/2006/main">
            <a:off x="9201150" y="28194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9" name="text-16 px">
            <a:extLst xmlns:a="http://schemas.openxmlformats.org/drawingml/2006/main">
              <a:ext uri="{FF2B5EF4-FFF2-40B4-BE49-F238E27FC236}">
                <a16:creationId xmlns:a16="http://schemas.microsoft.com/office/drawing/2014/main" id="{BA505BA4-F6E4-4513-9515-C48F0040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623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16 px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5FD20-23F4-4284-B8A2-043BE5D89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e5149acd04383"/>
          <a:stretch xmlns:a="http://schemas.openxmlformats.org/drawingml/2006/main"/>
        </p:blipFill>
        <p:spPr>
          <a:xfrm xmlns:a="http://schemas.openxmlformats.org/drawingml/2006/main">
            <a:off x="10420350" y="2819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-24 px">
            <a:extLst xmlns:a="http://schemas.openxmlformats.org/drawingml/2006/main">
              <a:ext uri="{FF2B5EF4-FFF2-40B4-BE49-F238E27FC236}">
                <a16:creationId xmlns:a16="http://schemas.microsoft.com/office/drawing/2014/main" id="{E3E6EE0F-B43D-4A3D-8BFF-1DEE6369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623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24 px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2D67B-A404-4E40-A9E2-F8859A9A3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1863a1aa14515"/>
          <a:stretch xmlns:a="http://schemas.openxmlformats.org/drawingml/2006/main"/>
        </p:blipFill>
        <p:spPr>
          <a:xfrm xmlns:a="http://schemas.openxmlformats.org/drawingml/2006/main">
            <a:off x="11639550" y="28194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text-32 px">
            <a:extLst xmlns:a="http://schemas.openxmlformats.org/drawingml/2006/main">
              <a:ext uri="{FF2B5EF4-FFF2-40B4-BE49-F238E27FC236}">
                <a16:creationId xmlns:a16="http://schemas.microsoft.com/office/drawing/2014/main" id="{32FA9AAC-CE5B-4B6A-A3FC-349A78ED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3623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32 px</a:t>
            </a:r>
          </a:p>
        </p:txBody>
      </p:sp>
      <p:sp>
        <p:nvSpPr>
          <p:cNvPr id="14" name="text-Use supplied compact bro">
            <a:extLst xmlns:a="http://schemas.openxmlformats.org/drawingml/2006/main">
              <a:ext uri="{FF2B5EF4-FFF2-40B4-BE49-F238E27FC236}">
                <a16:creationId xmlns:a16="http://schemas.microsoft.com/office/drawing/2014/main" id="{A74DCABE-FEA4-47E9-9940-9722F8FE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Use supplied compact browser favicons at 16-64 px. These browser slots waive x internally. The minimum slot is 16 px.</a:t>
            </a:r>
          </a:p>
        </p:txBody>
      </p:sp>
      <p:sp>
        <p:nvSpPr>
          <p:cNvPr id="15" name="text-All sizes refer to the c">
            <a:extLst xmlns:a="http://schemas.openxmlformats.org/drawingml/2006/main">
              <a:ext uri="{FF2B5EF4-FFF2-40B4-BE49-F238E27FC236}">
                <a16:creationId xmlns:a16="http://schemas.microsoft.com/office/drawing/2014/main" id="{132C9DE0-4DDF-4B67-B4BD-D0398859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All sizes refer to the complete supplied canvas, including its built-in space. Print minima are conservative production recommendations. No path alteration is needed for the favicon.</a:t>
            </a:r>
          </a:p>
        </p:txBody>
      </p:sp>
    </p:spTree>
    <p:extLst>
      <p:ext uri="{BB962C8B-B14F-4D97-AF65-F5344CB8AC3E}">
        <p14:creationId xmlns:p14="http://schemas.microsoft.com/office/powerpoint/2010/main" val="4347357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12EBD490-B84E-4646-A6F4-68DDF23E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Approved logo colors and">
            <a:extLst xmlns:a="http://schemas.openxmlformats.org/drawingml/2006/main">
              <a:ext uri="{FF2B5EF4-FFF2-40B4-BE49-F238E27FC236}">
                <a16:creationId xmlns:a16="http://schemas.microsoft.com/office/drawing/2014/main" id="{E380515F-E7A9-457B-A607-62F1DB4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Approved logo colors and backgrounds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E193CB-1D06-47C5-A79D-4645D3E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E163F403-5B97-46E1-A61D-071B7530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63B4A516-576C-493F-AB46-B48348C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69B93D5C-DBA9-4AC6-A75D-4F95616A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90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FCF28-E04C-43BA-A4DE-0AE2F0372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ff76e2a74429e">
            <a:extLst>
              <a:ext uri="{96DAC541-7B7A-43D3-8B79-37D633B846F1}">
                <asvg:svgBlip xmlns:asvg="http://schemas.microsoft.com/office/drawing/2016/SVG/main" r:embed="Rebc260e8358844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000250"/>
            <a:ext cx="5334000" cy="1418544"/>
          </a:xfrm>
          <a:prstGeom xmlns:a="http://schemas.openxmlformats.org/drawingml/2006/main" prst="rect">
            <a:avLst/>
          </a:prstGeom>
        </p:spPr>
      </p:pic>
      <p:sp>
        <p:nvSpPr>
          <p:cNvPr id="8" name="text-Forest on ivory or white">
            <a:extLst xmlns:a="http://schemas.openxmlformats.org/drawingml/2006/main">
              <a:ext uri="{FF2B5EF4-FFF2-40B4-BE49-F238E27FC236}">
                <a16:creationId xmlns:a16="http://schemas.microsoft.com/office/drawing/2014/main" id="{3F08D0F2-77AE-474C-A472-DC789CAA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Forest on ivory or white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50E0ADCA-D479-417E-9C37-2F48F24D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590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E5810-95C4-4B93-9614-741257F35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8b87613d04536">
            <a:extLst>
              <a:ext uri="{96DAC541-7B7A-43D3-8B79-37D633B846F1}">
                <asvg:svgBlip xmlns:asvg="http://schemas.microsoft.com/office/drawing/2016/SVG/main" r:embed="Rdbea4b2c556845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86650" y="2000250"/>
            <a:ext cx="5334000" cy="1418544"/>
          </a:xfrm>
          <a:prstGeom xmlns:a="http://schemas.openxmlformats.org/drawingml/2006/main" prst="rect">
            <a:avLst/>
          </a:prstGeom>
        </p:spPr>
      </p:pic>
      <p:sp>
        <p:nvSpPr>
          <p:cNvPr id="11" name="text-Reversed white on forest">
            <a:extLst xmlns:a="http://schemas.openxmlformats.org/drawingml/2006/main">
              <a:ext uri="{FF2B5EF4-FFF2-40B4-BE49-F238E27FC236}">
                <a16:creationId xmlns:a16="http://schemas.microsoft.com/office/drawing/2014/main" id="{2DD06FDA-0F79-4708-8B7C-881902C6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Reversed white on forest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F5B2FB43-57AC-4955-B7D4-1D895E18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90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2DB40-0798-4696-9764-759CD5DF98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0d4fa074647ca">
            <a:extLst>
              <a:ext uri="{96DAC541-7B7A-43D3-8B79-37D633B846F1}">
                <asvg:svgBlip xmlns:asvg="http://schemas.microsoft.com/office/drawing/2016/SVG/main" r:embed="Re66a0ac6776043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4362450"/>
            <a:ext cx="5334000" cy="1418544"/>
          </a:xfrm>
          <a:prstGeom xmlns:a="http://schemas.openxmlformats.org/drawingml/2006/main" prst="rect">
            <a:avLst/>
          </a:prstGeom>
        </p:spPr>
      </p:pic>
      <p:sp>
        <p:nvSpPr>
          <p:cNvPr id="14" name="text-Black for single-color r">
            <a:extLst xmlns:a="http://schemas.openxmlformats.org/drawingml/2006/main">
              <a:ext uri="{FF2B5EF4-FFF2-40B4-BE49-F238E27FC236}">
                <a16:creationId xmlns:a16="http://schemas.microsoft.com/office/drawing/2014/main" id="{612188CD-D7CA-43E4-B85C-BD0F576E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Black for single-color reproduction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9CEC3AF4-52D9-43E2-B346-09D4B6BA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590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06D97-E193-4102-AA03-EBC19ED1C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561ea19404ebd">
            <a:extLst>
              <a:ext uri="{96DAC541-7B7A-43D3-8B79-37D633B846F1}">
                <asvg:svgBlip xmlns:asvg="http://schemas.microsoft.com/office/drawing/2016/SVG/main" r:embed="Rfda61e2c489c44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86650" y="4362450"/>
            <a:ext cx="5334000" cy="1418544"/>
          </a:xfrm>
          <a:prstGeom xmlns:a="http://schemas.openxmlformats.org/drawingml/2006/main" prst="rect">
            <a:avLst/>
          </a:prstGeom>
        </p:spPr>
      </p:pic>
      <p:sp>
        <p:nvSpPr>
          <p:cNvPr id="17" name="text-Reversed white on plain ">
            <a:extLst xmlns:a="http://schemas.openxmlformats.org/drawingml/2006/main">
              <a:ext uri="{FF2B5EF4-FFF2-40B4-BE49-F238E27FC236}">
                <a16:creationId xmlns:a16="http://schemas.microsoft.com/office/drawing/2014/main" id="{55235A60-FB02-4635-AD2D-32C30D93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102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Reversed white on plain ink</a:t>
            </a:r>
          </a:p>
        </p:txBody>
      </p:sp>
      <p:sp>
        <p:nvSpPr>
          <p:cNvPr id="18" name="text-Pastels identify special">
            <a:extLst xmlns:a="http://schemas.openxmlformats.org/drawingml/2006/main">
              <a:ext uri="{FF2B5EF4-FFF2-40B4-BE49-F238E27FC236}">
                <a16:creationId xmlns:a16="http://schemas.microsoft.com/office/drawing/2014/main" id="{FCACF4FC-E6E7-4737-9CFB-5CB891B7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Pastels identify specialists, not alternate logo colors. Use a solid field behind the logo when imagery or texture would compete with its seam.</a:t>
            </a:r>
          </a:p>
        </p:txBody>
      </p:sp>
    </p:spTree>
    <p:extLst>
      <p:ext uri="{BB962C8B-B14F-4D97-AF65-F5344CB8AC3E}">
        <p14:creationId xmlns:p14="http://schemas.microsoft.com/office/powerpoint/2010/main" val="3422957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CD73CBD3-2D9F-4242-8F4C-3F21719E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Alignment and placement">
            <a:extLst xmlns:a="http://schemas.openxmlformats.org/drawingml/2006/main">
              <a:ext uri="{FF2B5EF4-FFF2-40B4-BE49-F238E27FC236}">
                <a16:creationId xmlns:a16="http://schemas.microsoft.com/office/drawing/2014/main" id="{3612E3A2-731D-42C8-8DD4-2CBF8DF0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Alignment and placement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039D63A-C7B0-44FE-BED9-9A7F574B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62589301-1CB1-425C-8DF7-424D3F5F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753A3779-EED5-40F4-B4FE-FAAC5B40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472C31F-7B14-4FB8-8C32-196E52A6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658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389AEF9-D751-4F32-A508-44E51862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AB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3D109-D071-4D62-9EB3-8E19CA294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c602f2c584721">
            <a:extLst>
              <a:ext uri="{96DAC541-7B7A-43D3-8B79-37D633B846F1}">
                <asvg:svgBlip xmlns:asvg="http://schemas.microsoft.com/office/drawing/2016/SVG/main" r:embed="Rd3bbd910a18e41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9011" y="2152650"/>
            <a:ext cx="2571750" cy="683941"/>
          </a:xfrm>
          <a:prstGeom xmlns:a="http://schemas.openxmlformats.org/drawingml/2006/main" prst="rect">
            <a:avLst/>
          </a:prstGeom>
        </p:spPr>
      </p:pic>
      <p:sp>
        <p:nvSpPr>
          <p:cNvPr id="9" name="text-Your team’s briefing">
            <a:extLst xmlns:a="http://schemas.openxmlformats.org/drawingml/2006/main">
              <a:ext uri="{FF2B5EF4-FFF2-40B4-BE49-F238E27FC236}">
                <a16:creationId xmlns:a16="http://schemas.microsoft.com/office/drawing/2014/main" id="{D2DE8589-8580-45EB-874B-3B119C10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2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team’s briefing</a:t>
            </a:r>
          </a:p>
        </p:txBody>
      </p:sp>
      <p:sp>
        <p:nvSpPr>
          <p:cNvPr id="10" name="text-A clear place for the wo">
            <a:extLst xmlns:a="http://schemas.openxmlformats.org/drawingml/2006/main">
              <a:ext uri="{FF2B5EF4-FFF2-40B4-BE49-F238E27FC236}">
                <a16:creationId xmlns:a16="http://schemas.microsoft.com/office/drawing/2014/main" id="{63F019AC-260F-44EC-8040-ED35AA35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 clear place for the work ahead.</a:t>
            </a:r>
          </a:p>
        </p:txBody>
      </p:sp>
      <p:sp>
        <p:nvSpPr>
          <p:cNvPr id="11" name="text-Visible artwork aligns w">
            <a:extLst xmlns:a="http://schemas.openxmlformats.org/drawingml/2006/main">
              <a:ext uri="{FF2B5EF4-FFF2-40B4-BE49-F238E27FC236}">
                <a16:creationId xmlns:a16="http://schemas.microsoft.com/office/drawing/2014/main" id="{9782838A-D44E-4E87-B94F-6E96C76A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Visible artwork aligns with the content edge.</a:t>
            </a:r>
          </a:p>
        </p:txBody>
      </p:sp>
      <p:sp>
        <p:nvSpPr>
          <p:cNvPr id="12" name="text-Default placement">
            <a:extLst xmlns:a="http://schemas.openxmlformats.org/drawingml/2006/main">
              <a:ext uri="{FF2B5EF4-FFF2-40B4-BE49-F238E27FC236}">
                <a16:creationId xmlns:a16="http://schemas.microsoft.com/office/drawing/2014/main" id="{BB177B9C-B226-44A8-A84E-628A5B78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288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Default placement</a:t>
            </a:r>
          </a:p>
        </p:txBody>
      </p:sp>
      <p:sp>
        <p:nvSpPr>
          <p:cNvPr id="13" name="text-Top left on websites, do">
            <a:extLst xmlns:a="http://schemas.openxmlformats.org/drawingml/2006/main">
              <a:ext uri="{FF2B5EF4-FFF2-40B4-BE49-F238E27FC236}">
                <a16:creationId xmlns:a16="http://schemas.microsoft.com/office/drawing/2014/main" id="{E7EDFE21-96F7-4726-9CA8-C28ECA5B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86025"/>
            <a:ext cx="4114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Top left on websites, documents, social posts and presentation covers. Align visible artwork, allowing for built-in space.</a:t>
            </a:r>
          </a:p>
        </p:txBody>
      </p:sp>
      <p:sp>
        <p:nvSpPr>
          <p:cNvPr id="14" name="text-Centered exceptions">
            <a:extLst xmlns:a="http://schemas.openxmlformats.org/drawingml/2006/main">
              <a:ext uri="{FF2B5EF4-FFF2-40B4-BE49-F238E27FC236}">
                <a16:creationId xmlns:a16="http://schemas.microsoft.com/office/drawing/2014/main" id="{911C1B02-3D21-4DF4-B3A7-37827F69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67200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Centered exceptions</a:t>
            </a:r>
          </a:p>
        </p:txBody>
      </p:sp>
      <p:sp>
        <p:nvSpPr>
          <p:cNvPr id="15" name="text-Social avatar, favicon a">
            <a:extLst xmlns:a="http://schemas.openxmlformats.org/drawingml/2006/main">
              <a:ext uri="{FF2B5EF4-FFF2-40B4-BE49-F238E27FC236}">
                <a16:creationId xmlns:a16="http://schemas.microsoft.com/office/drawing/2014/main" id="{94913A9D-FEBB-432C-84D7-8E9426A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24400"/>
            <a:ext cx="4114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Social avatar, favicon and app icon tiles. Use the supplied square assets without moving individual bands.</a:t>
            </a:r>
          </a:p>
        </p:txBody>
      </p:sp>
      <p:sp>
        <p:nvSpPr>
          <p:cNvPr id="16" name="text-Edge margin = the larger">
            <a:extLst xmlns:a="http://schemas.openxmlformats.org/drawingml/2006/main">
              <a:ext uri="{FF2B5EF4-FFF2-40B4-BE49-F238E27FC236}">
                <a16:creationId xmlns:a16="http://schemas.microsoft.com/office/drawing/2014/main" id="{E5C1DD7E-9060-4658-8D26-7BCB1677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Edge margin = the larger of x or 5% of the composition’s short edge. Keep the same margin for logo, headline and supporting copy.</a:t>
            </a:r>
          </a:p>
        </p:txBody>
      </p:sp>
    </p:spTree>
    <p:extLst>
      <p:ext uri="{BB962C8B-B14F-4D97-AF65-F5344CB8AC3E}">
        <p14:creationId xmlns:p14="http://schemas.microsoft.com/office/powerpoint/2010/main" val="11962131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LOGO SYSTEM">
            <a:extLst xmlns:a="http://schemas.openxmlformats.org/drawingml/2006/main">
              <a:ext uri="{FF2B5EF4-FFF2-40B4-BE49-F238E27FC236}">
                <a16:creationId xmlns:a16="http://schemas.microsoft.com/office/drawing/2014/main" id="{3BA4AE19-8B70-4298-94D7-FE9FE9D7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LOGO SYSTEM</a:t>
            </a:r>
          </a:p>
        </p:txBody>
      </p:sp>
      <p:sp>
        <p:nvSpPr>
          <p:cNvPr id="2" name="text-Incorrect usage">
            <a:extLst xmlns:a="http://schemas.openxmlformats.org/drawingml/2006/main">
              <a:ext uri="{FF2B5EF4-FFF2-40B4-BE49-F238E27FC236}">
                <a16:creationId xmlns:a16="http://schemas.microsoft.com/office/drawing/2014/main" id="{27EAEF4C-25A2-40EA-A86A-D27ED12E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Incorrect usage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EB494F4-B35B-4897-A6DC-6798F6D1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0C34E0F6-A4BD-43BB-99E0-9C78FE81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5">
            <a:extLst xmlns:a="http://schemas.openxmlformats.org/drawingml/2006/main">
              <a:ext uri="{FF2B5EF4-FFF2-40B4-BE49-F238E27FC236}">
                <a16:creationId xmlns:a16="http://schemas.microsoft.com/office/drawing/2014/main" id="{B5E638DE-042F-43A6-B606-34F1562B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64D7694-6D17-41CF-854D-02C6D49F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3962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E14AB-7E2B-4B0C-A84E-1876E7197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2cd5c666a4268">
            <a:extLst>
              <a:ext uri="{96DAC541-7B7A-43D3-8B79-37D633B846F1}">
                <asvg:svgBlip xmlns:asvg="http://schemas.microsoft.com/office/drawing/2016/SVG/main" r:embed="Rd0b49c7cf8ff4f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2152650"/>
            <a:ext cx="3505200" cy="1371600"/>
          </a:xfrm>
          <a:prstGeom xmlns:a="http://schemas.openxmlformats.org/drawingml/2006/main" prst="rect">
            <a:avLst/>
          </a:prstGeom>
        </p:spPr>
      </p:pic>
      <p:sp>
        <p:nvSpPr>
          <p:cNvPr id="8" name="text-×">
            <a:extLst xmlns:a="http://schemas.openxmlformats.org/drawingml/2006/main">
              <a:ext uri="{FF2B5EF4-FFF2-40B4-BE49-F238E27FC236}">
                <a16:creationId xmlns:a16="http://schemas.microsoft.com/office/drawing/2014/main" id="{49C9C4A8-4E00-453F-9807-382E048C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×</a:t>
            </a:r>
          </a:p>
        </p:txBody>
      </p:sp>
      <p:sp>
        <p:nvSpPr>
          <p:cNvPr id="9" name="text-Stretched proportions">
            <a:extLst xmlns:a="http://schemas.openxmlformats.org/drawingml/2006/main">
              <a:ext uri="{FF2B5EF4-FFF2-40B4-BE49-F238E27FC236}">
                <a16:creationId xmlns:a16="http://schemas.microsoft.com/office/drawing/2014/main" id="{A32447DB-1E11-41FC-A697-BC72906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38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Stretched proportions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0D6CCB7C-377E-4209-8634-E7DF677E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14525"/>
            <a:ext cx="3962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8AE59-D111-4BCE-A216-DB981FA72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e036c37b041b2">
            <a:extLst>
              <a:ext uri="{96DAC541-7B7A-43D3-8B79-37D633B846F1}">
                <asvg:svgBlip xmlns:asvg="http://schemas.microsoft.com/office/drawing/2016/SVG/main" r:embed="R2677838af80c44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5400" y="2333625"/>
            <a:ext cx="3505200" cy="933450"/>
          </a:xfrm>
          <a:prstGeom xmlns:a="http://schemas.openxmlformats.org/drawingml/2006/main" prst="rect">
            <a:avLst/>
          </a:prstGeom>
        </p:spPr>
      </p:pic>
      <p:sp>
        <p:nvSpPr>
          <p:cNvPr id="12" name="text-×">
            <a:extLst xmlns:a="http://schemas.openxmlformats.org/drawingml/2006/main">
              <a:ext uri="{FF2B5EF4-FFF2-40B4-BE49-F238E27FC236}">
                <a16:creationId xmlns:a16="http://schemas.microsoft.com/office/drawing/2014/main" id="{6B205D89-2846-4836-84ED-D766FDAA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×</a:t>
            </a:r>
          </a:p>
        </p:txBody>
      </p:sp>
      <p:sp>
        <p:nvSpPr>
          <p:cNvPr id="13" name="text-Unapproved color">
            <a:extLst xmlns:a="http://schemas.openxmlformats.org/drawingml/2006/main">
              <a:ext uri="{FF2B5EF4-FFF2-40B4-BE49-F238E27FC236}">
                <a16:creationId xmlns:a16="http://schemas.microsoft.com/office/drawing/2014/main" id="{EF66B695-1A22-4C88-AE4E-3B11FE0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38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Unapproved color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D83D2DC-73C2-4882-8AC0-61CC107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3962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D1EEF-210F-40E9-9531-8463B7AE69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d6231f31b45e6">
            <a:extLst>
              <a:ext uri="{96DAC541-7B7A-43D3-8B79-37D633B846F1}">
                <asvg:svgBlip xmlns:asvg="http://schemas.microsoft.com/office/drawing/2016/SVG/main" r:embed="R8f48c2d882004f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-720000">
            <a:off x="9372600" y="2333625"/>
            <a:ext cx="3505200" cy="933450"/>
          </a:xfrm>
          <a:prstGeom xmlns:a="http://schemas.openxmlformats.org/drawingml/2006/main" prst="rect">
            <a:avLst/>
          </a:prstGeom>
        </p:spPr>
      </p:pic>
      <p:sp>
        <p:nvSpPr>
          <p:cNvPr id="16" name="text-×">
            <a:extLst xmlns:a="http://schemas.openxmlformats.org/drawingml/2006/main">
              <a:ext uri="{FF2B5EF4-FFF2-40B4-BE49-F238E27FC236}">
                <a16:creationId xmlns:a16="http://schemas.microsoft.com/office/drawing/2014/main" id="{1D829B4B-3E31-4315-811A-E16ADEBB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02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×</a:t>
            </a:r>
          </a:p>
        </p:txBody>
      </p:sp>
      <p:sp>
        <p:nvSpPr>
          <p:cNvPr id="17" name="text-Rotation">
            <a:extLst xmlns:a="http://schemas.openxmlformats.org/drawingml/2006/main">
              <a:ext uri="{FF2B5EF4-FFF2-40B4-BE49-F238E27FC236}">
                <a16:creationId xmlns:a16="http://schemas.microsoft.com/office/drawing/2014/main" id="{C3F5E05E-9109-4721-BC51-04B5FD5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Rotation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14686B91-2A19-48D7-9D72-6873171B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962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0B188-51BC-4B14-800A-7EADA07CBB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9f4ecd8ac41df">
            <a:extLst>
              <a:ext uri="{96DAC541-7B7A-43D3-8B79-37D633B846F1}">
                <asvg:svgBlip xmlns:asvg="http://schemas.microsoft.com/office/drawing/2016/SVG/main" r:embed="R67155c0943f34e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667250"/>
            <a:ext cx="3505200" cy="933450"/>
          </a:xfrm>
          <a:prstGeom xmlns:a="http://schemas.openxmlformats.org/drawingml/2006/main" prst="rect">
            <a:avLst/>
          </a:prstGeom>
        </p:spPr>
      </p:pic>
      <p:sp>
        <p:nvSpPr>
          <p:cNvPr id="20" name="text-×">
            <a:extLst xmlns:a="http://schemas.openxmlformats.org/drawingml/2006/main">
              <a:ext uri="{FF2B5EF4-FFF2-40B4-BE49-F238E27FC236}">
                <a16:creationId xmlns:a16="http://schemas.microsoft.com/office/drawing/2014/main" id="{1A1FA852-3F1B-47D3-A228-B830A8BC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×</a:t>
            </a:r>
          </a:p>
        </p:txBody>
      </p:sp>
      <p:sp>
        <p:nvSpPr>
          <p:cNvPr id="21" name="text-Separated bands">
            <a:extLst xmlns:a="http://schemas.openxmlformats.org/drawingml/2006/main">
              <a:ext uri="{FF2B5EF4-FFF2-40B4-BE49-F238E27FC236}">
                <a16:creationId xmlns:a16="http://schemas.microsoft.com/office/drawing/2014/main" id="{118AB63E-248D-415F-99FD-F07D75A1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Separated bands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01301582-8587-4BE2-9966-7385DBA2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48150"/>
            <a:ext cx="3962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E109F-D5A1-4E8F-A1AA-EE076449B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7bf2b6fd348c3">
            <a:extLst>
              <a:ext uri="{96DAC541-7B7A-43D3-8B79-37D633B846F1}">
                <asvg:svgBlip xmlns:asvg="http://schemas.microsoft.com/office/drawing/2016/SVG/main" r:embed="R48c183be461841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5400" y="4667250"/>
            <a:ext cx="3505200" cy="933450"/>
          </a:xfrm>
          <a:prstGeom xmlns:a="http://schemas.openxmlformats.org/drawingml/2006/main" prst="rect">
            <a:avLst/>
          </a:prstGeom>
        </p:spPr>
      </p:pic>
      <p:sp>
        <p:nvSpPr>
          <p:cNvPr id="24" name="text-×">
            <a:extLst xmlns:a="http://schemas.openxmlformats.org/drawingml/2006/main">
              <a:ext uri="{FF2B5EF4-FFF2-40B4-BE49-F238E27FC236}">
                <a16:creationId xmlns:a16="http://schemas.microsoft.com/office/drawing/2014/main" id="{0DF02F5A-01E3-4BB9-BDC7-124C8D35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338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×</a:t>
            </a:r>
          </a:p>
        </p:txBody>
      </p:sp>
      <p:sp>
        <p:nvSpPr>
          <p:cNvPr id="25" name="text-Outlined artwork">
            <a:extLst xmlns:a="http://schemas.openxmlformats.org/drawingml/2006/main">
              <a:ext uri="{FF2B5EF4-FFF2-40B4-BE49-F238E27FC236}">
                <a16:creationId xmlns:a16="http://schemas.microsoft.com/office/drawing/2014/main" id="{DBA6FCF9-EFC2-4774-85F3-17E7FA0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172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Outlined artwork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4652E27C-8AAE-4529-A645-FF10E9FF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48150"/>
            <a:ext cx="3962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0C366-E025-4F68-A8DF-4DB21114C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82501df354ae7">
            <a:extLst>
              <a:ext uri="{96DAC541-7B7A-43D3-8B79-37D633B846F1}">
                <asvg:svgBlip xmlns:asvg="http://schemas.microsoft.com/office/drawing/2016/SVG/main" r:embed="R704bd7cf338843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72600" y="4667250"/>
            <a:ext cx="3505200" cy="933450"/>
          </a:xfrm>
          <a:prstGeom xmlns:a="http://schemas.openxmlformats.org/drawingml/2006/main" prst="rect">
            <a:avLst/>
          </a:prstGeom>
        </p:spPr>
      </p:pic>
      <p:sp>
        <p:nvSpPr>
          <p:cNvPr id="28" name="text-A headline touching the ">
            <a:extLst xmlns:a="http://schemas.openxmlformats.org/drawingml/2006/main">
              <a:ext uri="{FF2B5EF4-FFF2-40B4-BE49-F238E27FC236}">
                <a16:creationId xmlns:a16="http://schemas.microsoft.com/office/drawing/2014/main" id="{AA0B3802-7415-4291-B929-C441196B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2482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A headline touching the logo</a:t>
            </a:r>
          </a:p>
        </p:txBody>
      </p:sp>
      <p:sp>
        <p:nvSpPr>
          <p:cNvPr id="29" name="text-×">
            <a:extLst xmlns:a="http://schemas.openxmlformats.org/drawingml/2006/main">
              <a:ext uri="{FF2B5EF4-FFF2-40B4-BE49-F238E27FC236}">
                <a16:creationId xmlns:a16="http://schemas.microsoft.com/office/drawing/2014/main" id="{76A48510-E931-42F0-87B8-BF6EF70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338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×</a:t>
            </a:r>
          </a:p>
        </p:txBody>
      </p:sp>
      <p:sp>
        <p:nvSpPr>
          <p:cNvPr id="30" name="text-Crowded clear space">
            <a:extLst xmlns:a="http://schemas.openxmlformats.org/drawingml/2006/main">
              <a:ext uri="{FF2B5EF4-FFF2-40B4-BE49-F238E27FC236}">
                <a16:creationId xmlns:a16="http://schemas.microsoft.com/office/drawing/2014/main" id="{1AA70C79-AB74-4DF0-B8FC-C787288D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172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Crowded clear space</a:t>
            </a:r>
          </a:p>
        </p:txBody>
      </p:sp>
      <p:sp>
        <p:nvSpPr>
          <p:cNvPr id="31" name="text-Also avoid shadows, grad">
            <a:extLst xmlns:a="http://schemas.openxmlformats.org/drawingml/2006/main">
              <a:ext uri="{FF2B5EF4-FFF2-40B4-BE49-F238E27FC236}">
                <a16:creationId xmlns:a16="http://schemas.microsoft.com/office/drawing/2014/main" id="{05262A8F-EFDF-4984-8B36-549375F9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Also avoid shadows, gradients, cropping, adding a face, placing a character in the seam, or recreating the wordmark by typing it.</a:t>
            </a:r>
          </a:p>
        </p:txBody>
      </p:sp>
    </p:spTree>
    <p:extLst>
      <p:ext uri="{BB962C8B-B14F-4D97-AF65-F5344CB8AC3E}">
        <p14:creationId xmlns:p14="http://schemas.microsoft.com/office/powerpoint/2010/main" val="5951070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4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EA20468B-4387-46C6-9F26-44CA0E12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Color and typography">
            <a:extLst xmlns:a="http://schemas.openxmlformats.org/drawingml/2006/main">
              <a:ext uri="{FF2B5EF4-FFF2-40B4-BE49-F238E27FC236}">
                <a16:creationId xmlns:a16="http://schemas.microsoft.com/office/drawing/2014/main" id="{8A23923B-B228-4310-BEE7-8AE559F9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Color and typography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E04B30D-21B1-490D-8DD8-616E28BA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AA98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141F3A2B-B01C-4F66-A392-DADD8415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E41EBBAD-C8FE-481C-AD7F-AB376FC6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text-Warm surfaces.&#10;A clear w">
            <a:extLst xmlns:a="http://schemas.openxmlformats.org/drawingml/2006/main">
              <a:ext uri="{FF2B5EF4-FFF2-40B4-BE49-F238E27FC236}">
                <a16:creationId xmlns:a16="http://schemas.microsoft.com/office/drawing/2014/main" id="{9B6BA2E8-6F25-48AB-AC46-F8D5D243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12395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49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49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Warm surfaces.</a:t>
            </a:r>
          </a:p>
          <a:p xmlns:a="http://schemas.openxmlformats.org/drawingml/2006/main">
            <a:pPr algn="l">
              <a:defRPr sz="49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49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A clear working hierarchy.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7B29842-AF1B-44D5-9CED-394B2D38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409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A0F2654-E4AD-462C-9E3E-FD3DFA30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91150"/>
            <a:ext cx="1409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C9BE0AF9-6A68-4969-BE26-795C3AEC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91150"/>
            <a:ext cx="1409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B776FA08-696D-45A7-BCB6-7A13EFD7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91150"/>
            <a:ext cx="1409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A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4997F159-08BD-4D03-A4E4-2F56983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1409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F08580A-A3DE-493C-A1DD-89F26C0C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1409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72CBDD7-3A01-4FDD-8A56-67B28EAE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91150"/>
            <a:ext cx="1409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4F96411-3AA1-433A-9591-E745D46F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391150"/>
            <a:ext cx="1409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9C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40998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6FE4BF6B-D01B-4C22-821E-926863CE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Core palette">
            <a:extLst xmlns:a="http://schemas.openxmlformats.org/drawingml/2006/main">
              <a:ext uri="{FF2B5EF4-FFF2-40B4-BE49-F238E27FC236}">
                <a16:creationId xmlns:a16="http://schemas.microsoft.com/office/drawing/2014/main" id="{F1376648-9649-479A-A957-CE9D1656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Core palette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6631FC8-429C-464A-AF81-9886FAA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F1D7E33B-1EEF-42A1-95EE-37CFD230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13F65538-CF56-4D89-8302-10CACD1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C030D254-5EE2-4FA2-8BBB-85BBB2DF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924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Forest">
            <a:extLst xmlns:a="http://schemas.openxmlformats.org/drawingml/2006/main">
              <a:ext uri="{FF2B5EF4-FFF2-40B4-BE49-F238E27FC236}">
                <a16:creationId xmlns:a16="http://schemas.microsoft.com/office/drawing/2014/main" id="{12824D1C-9366-4A9A-AFE1-F9F3A33E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Forest</a:t>
            </a:r>
          </a:p>
        </p:txBody>
      </p:sp>
      <p:sp>
        <p:nvSpPr>
          <p:cNvPr id="8" name="text-#245C47">
            <a:extLst xmlns:a="http://schemas.openxmlformats.org/drawingml/2006/main">
              <a:ext uri="{FF2B5EF4-FFF2-40B4-BE49-F238E27FC236}">
                <a16:creationId xmlns:a16="http://schemas.microsoft.com/office/drawing/2014/main" id="{22FB5B13-70F8-474D-A7D1-6D6E82D7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#245C47</a:t>
            </a:r>
          </a:p>
        </p:txBody>
      </p:sp>
      <p:sp>
        <p:nvSpPr>
          <p:cNvPr id="9" name="text-RGB 36 / 92 / 71">
            <a:extLst xmlns:a="http://schemas.openxmlformats.org/drawingml/2006/main">
              <a:ext uri="{FF2B5EF4-FFF2-40B4-BE49-F238E27FC236}">
                <a16:creationId xmlns:a16="http://schemas.microsoft.com/office/drawing/2014/main" id="{F96AF722-0AA8-452C-88C2-3C92D3F4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36 / 92 / 71</a:t>
            </a:r>
          </a:p>
        </p:txBody>
      </p:sp>
      <p:sp>
        <p:nvSpPr>
          <p:cNvPr id="10" name="text-CMYK 61 / 0 / 23 / 64">
            <a:extLst xmlns:a="http://schemas.openxmlformats.org/drawingml/2006/main">
              <a:ext uri="{FF2B5EF4-FFF2-40B4-BE49-F238E27FC236}">
                <a16:creationId xmlns:a16="http://schemas.microsoft.com/office/drawing/2014/main" id="{9F86EFCA-36E3-48FA-8717-CD9C9EA9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CMYK 61 / 0 / 23 / 64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5D2387B3-760E-4A72-BB1E-928DF8CD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9775"/>
            <a:ext cx="1924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Ivory">
            <a:extLst xmlns:a="http://schemas.openxmlformats.org/drawingml/2006/main">
              <a:ext uri="{FF2B5EF4-FFF2-40B4-BE49-F238E27FC236}">
                <a16:creationId xmlns:a16="http://schemas.microsoft.com/office/drawing/2014/main" id="{9B6FF575-1952-4878-96BE-192CBB66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Ivory</a:t>
            </a:r>
          </a:p>
        </p:txBody>
      </p:sp>
      <p:sp>
        <p:nvSpPr>
          <p:cNvPr id="13" name="text-#F5F3EC">
            <a:extLst xmlns:a="http://schemas.openxmlformats.org/drawingml/2006/main">
              <a:ext uri="{FF2B5EF4-FFF2-40B4-BE49-F238E27FC236}">
                <a16:creationId xmlns:a16="http://schemas.microsoft.com/office/drawing/2014/main" id="{F17929EA-82E6-4542-AA5B-F741A568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62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#F5F3EC</a:t>
            </a:r>
          </a:p>
        </p:txBody>
      </p:sp>
      <p:sp>
        <p:nvSpPr>
          <p:cNvPr id="14" name="text-RGB 245 / 243 / 236">
            <a:extLst xmlns:a="http://schemas.openxmlformats.org/drawingml/2006/main">
              <a:ext uri="{FF2B5EF4-FFF2-40B4-BE49-F238E27FC236}">
                <a16:creationId xmlns:a16="http://schemas.microsoft.com/office/drawing/2014/main" id="{9ACAA7D3-25F8-4F79-A6DD-4D20DFC1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86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245 / 243 / 236</a:t>
            </a:r>
          </a:p>
        </p:txBody>
      </p:sp>
      <p:sp>
        <p:nvSpPr>
          <p:cNvPr id="15" name="text-CMYK 0 / 1 / 4 / 4">
            <a:extLst xmlns:a="http://schemas.openxmlformats.org/drawingml/2006/main">
              <a:ext uri="{FF2B5EF4-FFF2-40B4-BE49-F238E27FC236}">
                <a16:creationId xmlns:a16="http://schemas.microsoft.com/office/drawing/2014/main" id="{E57CFEDE-9C49-4417-9BB2-F79EEDF3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102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CMYK 0 / 1 / 4 / 4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FB9AF870-8614-4A4B-9AAC-2727703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924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Paper">
            <a:extLst xmlns:a="http://schemas.openxmlformats.org/drawingml/2006/main">
              <a:ext uri="{FF2B5EF4-FFF2-40B4-BE49-F238E27FC236}">
                <a16:creationId xmlns:a16="http://schemas.microsoft.com/office/drawing/2014/main" id="{031772D4-6BDF-44AB-8BFC-F6A35B77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814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Paper</a:t>
            </a:r>
          </a:p>
        </p:txBody>
      </p:sp>
      <p:sp>
        <p:nvSpPr>
          <p:cNvPr id="18" name="text-#FFFEFA">
            <a:extLst xmlns:a="http://schemas.openxmlformats.org/drawingml/2006/main">
              <a:ext uri="{FF2B5EF4-FFF2-40B4-BE49-F238E27FC236}">
                <a16:creationId xmlns:a16="http://schemas.microsoft.com/office/drawing/2014/main" id="{18489333-68E6-4D3A-9B57-F10F8108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62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#FFFEFA</a:t>
            </a:r>
          </a:p>
        </p:txBody>
      </p:sp>
      <p:sp>
        <p:nvSpPr>
          <p:cNvPr id="19" name="text-RGB 255 / 254 / 250">
            <a:extLst xmlns:a="http://schemas.openxmlformats.org/drawingml/2006/main">
              <a:ext uri="{FF2B5EF4-FFF2-40B4-BE49-F238E27FC236}">
                <a16:creationId xmlns:a16="http://schemas.microsoft.com/office/drawing/2014/main" id="{E106265D-B168-4114-9D67-E7DC78E9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86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255 / 254 / 250</a:t>
            </a:r>
          </a:p>
        </p:txBody>
      </p:sp>
      <p:sp>
        <p:nvSpPr>
          <p:cNvPr id="20" name="text-CMYK 0 / 0 / 2 / 0">
            <a:extLst xmlns:a="http://schemas.openxmlformats.org/drawingml/2006/main">
              <a:ext uri="{FF2B5EF4-FFF2-40B4-BE49-F238E27FC236}">
                <a16:creationId xmlns:a16="http://schemas.microsoft.com/office/drawing/2014/main" id="{4BD9D4FC-F133-4114-B3AE-ACBBD247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102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CMYK 0 / 0 / 2 / 0</a:t>
            </a:r>
          </a:p>
        </p:txBody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47B214EC-4C9F-43DE-983F-CEAC424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9775"/>
            <a:ext cx="1924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Ink">
            <a:extLst xmlns:a="http://schemas.openxmlformats.org/drawingml/2006/main">
              <a:ext uri="{FF2B5EF4-FFF2-40B4-BE49-F238E27FC236}">
                <a16:creationId xmlns:a16="http://schemas.microsoft.com/office/drawing/2014/main" id="{B8D5E8FF-D889-4FF7-ABA6-F54CFE7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814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Ink</a:t>
            </a:r>
          </a:p>
        </p:txBody>
      </p:sp>
      <p:sp>
        <p:nvSpPr>
          <p:cNvPr id="23" name="text-#202A25">
            <a:extLst xmlns:a="http://schemas.openxmlformats.org/drawingml/2006/main">
              <a:ext uri="{FF2B5EF4-FFF2-40B4-BE49-F238E27FC236}">
                <a16:creationId xmlns:a16="http://schemas.microsoft.com/office/drawing/2014/main" id="{0D249881-6994-45AB-9F43-0E73F172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#202A25</a:t>
            </a:r>
          </a:p>
        </p:txBody>
      </p:sp>
      <p:sp>
        <p:nvSpPr>
          <p:cNvPr id="24" name="text-RGB 32 / 42 / 37">
            <a:extLst xmlns:a="http://schemas.openxmlformats.org/drawingml/2006/main">
              <a:ext uri="{FF2B5EF4-FFF2-40B4-BE49-F238E27FC236}">
                <a16:creationId xmlns:a16="http://schemas.microsoft.com/office/drawing/2014/main" id="{60CA4178-7B69-4477-BF6D-DE28C469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86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32 / 42 / 37</a:t>
            </a:r>
          </a:p>
        </p:txBody>
      </p:sp>
      <p:sp>
        <p:nvSpPr>
          <p:cNvPr id="25" name="text-CMYK 24 / 0 / 12 / 84">
            <a:extLst xmlns:a="http://schemas.openxmlformats.org/drawingml/2006/main">
              <a:ext uri="{FF2B5EF4-FFF2-40B4-BE49-F238E27FC236}">
                <a16:creationId xmlns:a16="http://schemas.microsoft.com/office/drawing/2014/main" id="{35393C0C-22C0-4D11-ABA5-7640588D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02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CMYK 24 / 0 / 12 / 84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CB0456E0-4887-49F5-AC5E-36C0E36E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9775"/>
            <a:ext cx="1924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Muted">
            <a:extLst xmlns:a="http://schemas.openxmlformats.org/drawingml/2006/main">
              <a:ext uri="{FF2B5EF4-FFF2-40B4-BE49-F238E27FC236}">
                <a16:creationId xmlns:a16="http://schemas.microsoft.com/office/drawing/2014/main" id="{243BD99E-0633-41A6-9237-4302D2C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814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Muted</a:t>
            </a:r>
          </a:p>
        </p:txBody>
      </p:sp>
      <p:sp>
        <p:nvSpPr>
          <p:cNvPr id="28" name="text-#566159">
            <a:extLst xmlns:a="http://schemas.openxmlformats.org/drawingml/2006/main">
              <a:ext uri="{FF2B5EF4-FFF2-40B4-BE49-F238E27FC236}">
                <a16:creationId xmlns:a16="http://schemas.microsoft.com/office/drawing/2014/main" id="{421C9776-F054-456D-9B29-07BA13A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#566159</a:t>
            </a:r>
          </a:p>
        </p:txBody>
      </p:sp>
      <p:sp>
        <p:nvSpPr>
          <p:cNvPr id="29" name="text-RGB 86 / 97 / 89">
            <a:extLst xmlns:a="http://schemas.openxmlformats.org/drawingml/2006/main">
              <a:ext uri="{FF2B5EF4-FFF2-40B4-BE49-F238E27FC236}">
                <a16:creationId xmlns:a16="http://schemas.microsoft.com/office/drawing/2014/main" id="{7141FEE7-692B-49DA-8D8C-B42F277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86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86 / 97 / 89</a:t>
            </a:r>
          </a:p>
        </p:txBody>
      </p:sp>
      <p:sp>
        <p:nvSpPr>
          <p:cNvPr id="30" name="text-CMYK 11 / 0 / 8 / 62">
            <a:extLst xmlns:a="http://schemas.openxmlformats.org/drawingml/2006/main">
              <a:ext uri="{FF2B5EF4-FFF2-40B4-BE49-F238E27FC236}">
                <a16:creationId xmlns:a16="http://schemas.microsoft.com/office/drawing/2014/main" id="{4D11C710-551B-41A4-A7DF-31E2A373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102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CMYK 11 / 0 / 8 / 62</a:t>
            </a:r>
          </a:p>
        </p:txBody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4B772A0E-84F4-4FFF-ADDE-A769C78A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009775"/>
            <a:ext cx="1924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Border">
            <a:extLst xmlns:a="http://schemas.openxmlformats.org/drawingml/2006/main">
              <a:ext uri="{FF2B5EF4-FFF2-40B4-BE49-F238E27FC236}">
                <a16:creationId xmlns:a16="http://schemas.microsoft.com/office/drawing/2014/main" id="{58B848CD-DE79-4CF8-84AC-C87C059C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1814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Border</a:t>
            </a:r>
          </a:p>
        </p:txBody>
      </p:sp>
      <p:sp>
        <p:nvSpPr>
          <p:cNvPr id="33" name="text-#D9DED3">
            <a:extLst xmlns:a="http://schemas.openxmlformats.org/drawingml/2006/main">
              <a:ext uri="{FF2B5EF4-FFF2-40B4-BE49-F238E27FC236}">
                <a16:creationId xmlns:a16="http://schemas.microsoft.com/office/drawing/2014/main" id="{4ABC4DA4-3D02-415F-A3A9-33458002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#D9DED3</a:t>
            </a:r>
          </a:p>
        </p:txBody>
      </p:sp>
      <p:sp>
        <p:nvSpPr>
          <p:cNvPr id="34" name="text-RGB 217 / 222 / 211">
            <a:extLst xmlns:a="http://schemas.openxmlformats.org/drawingml/2006/main">
              <a:ext uri="{FF2B5EF4-FFF2-40B4-BE49-F238E27FC236}">
                <a16:creationId xmlns:a16="http://schemas.microsoft.com/office/drawing/2014/main" id="{77C4E7A2-F96A-4213-8D60-3E073E9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086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217 / 222 / 211</a:t>
            </a:r>
          </a:p>
        </p:txBody>
      </p:sp>
      <p:sp>
        <p:nvSpPr>
          <p:cNvPr id="35" name="text-CMYK 2 / 0 / 5 / 13">
            <a:extLst xmlns:a="http://schemas.openxmlformats.org/drawingml/2006/main">
              <a:ext uri="{FF2B5EF4-FFF2-40B4-BE49-F238E27FC236}">
                <a16:creationId xmlns:a16="http://schemas.microsoft.com/office/drawing/2014/main" id="{AA60A9C2-4B29-4CD3-8E36-1B0DC05D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6102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CMYK 2 / 0 / 5 / 13</a:t>
            </a:r>
          </a:p>
        </p:txBody>
      </p:sp>
      <p:sp>
        <p:nvSpPr>
          <p:cNvPr id="36" name="text-HEX and RGB are the digi">
            <a:extLst xmlns:a="http://schemas.openxmlformats.org/drawingml/2006/main">
              <a:ext uri="{FF2B5EF4-FFF2-40B4-BE49-F238E27FC236}">
                <a16:creationId xmlns:a16="http://schemas.microsoft.com/office/drawing/2014/main" id="{4CCB860A-0946-4387-8B92-126BCD94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HEX and RGB are the digital source of truth. CMYK values are starting conversions from sRGB; a printer must convert for the chosen profile and proof on the actual stock.</a:t>
            </a:r>
          </a:p>
        </p:txBody>
      </p:sp>
    </p:spTree>
    <p:extLst>
      <p:ext uri="{BB962C8B-B14F-4D97-AF65-F5344CB8AC3E}">
        <p14:creationId xmlns:p14="http://schemas.microsoft.com/office/powerpoint/2010/main" val="9226496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43D5CF5D-BCFC-4B84-8648-56E91EE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Specialist identity colo">
            <a:extLst xmlns:a="http://schemas.openxmlformats.org/drawingml/2006/main">
              <a:ext uri="{FF2B5EF4-FFF2-40B4-BE49-F238E27FC236}">
                <a16:creationId xmlns:a16="http://schemas.microsoft.com/office/drawing/2014/main" id="{69DA0F43-8ECC-4C5C-BDE1-2CC1770E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Specialist identity colors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05AE65A-801C-474D-8DDD-E40F6A6C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200C6766-F07B-4A7D-8CC6-3B8381A0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AA768524-9A6F-43F1-8DC5-A387AAEB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B9CD7790-97C2-4B7F-953B-7599B4C0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924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Scout">
            <a:extLst xmlns:a="http://schemas.openxmlformats.org/drawingml/2006/main">
              <a:ext uri="{FF2B5EF4-FFF2-40B4-BE49-F238E27FC236}">
                <a16:creationId xmlns:a16="http://schemas.microsoft.com/office/drawing/2014/main" id="{55402933-CBE3-4509-8A31-E1319F1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Scout</a:t>
            </a:r>
          </a:p>
        </p:txBody>
      </p:sp>
      <p:sp>
        <p:nvSpPr>
          <p:cNvPr id="8" name="text-#F2C983">
            <a:extLst xmlns:a="http://schemas.openxmlformats.org/drawingml/2006/main">
              <a:ext uri="{FF2B5EF4-FFF2-40B4-BE49-F238E27FC236}">
                <a16:creationId xmlns:a16="http://schemas.microsoft.com/office/drawing/2014/main" id="{C8FB97A3-0899-430C-A466-5A5DBA74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#F2C983</a:t>
            </a:r>
          </a:p>
        </p:txBody>
      </p:sp>
      <p:sp>
        <p:nvSpPr>
          <p:cNvPr id="9" name="text-RGB 242 / 201 / 131">
            <a:extLst xmlns:a="http://schemas.openxmlformats.org/drawingml/2006/main">
              <a:ext uri="{FF2B5EF4-FFF2-40B4-BE49-F238E27FC236}">
                <a16:creationId xmlns:a16="http://schemas.microsoft.com/office/drawing/2014/main" id="{B8942CB2-4C44-43C9-8F93-D451C291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242 / 201 / 131</a:t>
            </a:r>
          </a:p>
        </p:txBody>
      </p:sp>
      <p:sp>
        <p:nvSpPr>
          <p:cNvPr id="10" name="text-Opportunity fit">
            <a:extLst xmlns:a="http://schemas.openxmlformats.org/drawingml/2006/main">
              <a:ext uri="{FF2B5EF4-FFF2-40B4-BE49-F238E27FC236}">
                <a16:creationId xmlns:a16="http://schemas.microsoft.com/office/drawing/2014/main" id="{F8BC9BFD-7DC5-410A-9B90-6E3DA010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Opportunity fit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25AF191-EF8C-4A11-BF16-4AB06CF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1924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A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Promoter">
            <a:extLst xmlns:a="http://schemas.openxmlformats.org/drawingml/2006/main">
              <a:ext uri="{FF2B5EF4-FFF2-40B4-BE49-F238E27FC236}">
                <a16:creationId xmlns:a16="http://schemas.microsoft.com/office/drawing/2014/main" id="{C3FEC244-9202-44DA-9914-C3B0A1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529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Promoter</a:t>
            </a:r>
          </a:p>
        </p:txBody>
      </p:sp>
      <p:sp>
        <p:nvSpPr>
          <p:cNvPr id="13" name="text-#EFAF9B">
            <a:extLst xmlns:a="http://schemas.openxmlformats.org/drawingml/2006/main">
              <a:ext uri="{FF2B5EF4-FFF2-40B4-BE49-F238E27FC236}">
                <a16:creationId xmlns:a16="http://schemas.microsoft.com/office/drawing/2014/main" id="{3791B68F-02C5-4DCF-AA3B-CA6F1167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339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#EFAF9B</a:t>
            </a:r>
          </a:p>
        </p:txBody>
      </p:sp>
      <p:sp>
        <p:nvSpPr>
          <p:cNvPr id="14" name="text-RGB 239 / 175 / 155">
            <a:extLst xmlns:a="http://schemas.openxmlformats.org/drawingml/2006/main">
              <a:ext uri="{FF2B5EF4-FFF2-40B4-BE49-F238E27FC236}">
                <a16:creationId xmlns:a16="http://schemas.microsoft.com/office/drawing/2014/main" id="{2FCF7BC7-B98A-4D84-89DB-AD11E3E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57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239 / 175 / 155</a:t>
            </a:r>
          </a:p>
        </p:txBody>
      </p:sp>
      <p:sp>
        <p:nvSpPr>
          <p:cNvPr id="15" name="text-Promotion drafts">
            <a:extLst xmlns:a="http://schemas.openxmlformats.org/drawingml/2006/main">
              <a:ext uri="{FF2B5EF4-FFF2-40B4-BE49-F238E27FC236}">
                <a16:creationId xmlns:a16="http://schemas.microsoft.com/office/drawing/2014/main" id="{E7DAFFF6-CE7D-4030-9CAA-018A1EAC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Promotion drafts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C85A3115-F0B3-45BA-8263-DB82CB0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1924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Sales">
            <a:extLst xmlns:a="http://schemas.openxmlformats.org/drawingml/2006/main">
              <a:ext uri="{FF2B5EF4-FFF2-40B4-BE49-F238E27FC236}">
                <a16:creationId xmlns:a16="http://schemas.microsoft.com/office/drawing/2014/main" id="{2DE866C0-21C6-4F7E-ADBF-0975B1A0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29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Sales</a:t>
            </a:r>
          </a:p>
        </p:txBody>
      </p:sp>
      <p:sp>
        <p:nvSpPr>
          <p:cNvPr id="18" name="text-#B9D8EC">
            <a:extLst xmlns:a="http://schemas.openxmlformats.org/drawingml/2006/main">
              <a:ext uri="{FF2B5EF4-FFF2-40B4-BE49-F238E27FC236}">
                <a16:creationId xmlns:a16="http://schemas.microsoft.com/office/drawing/2014/main" id="{FA963023-B543-44A0-9405-1446B5A0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#B9D8EC</a:t>
            </a:r>
          </a:p>
        </p:txBody>
      </p:sp>
      <p:sp>
        <p:nvSpPr>
          <p:cNvPr id="19" name="text-RGB 185 / 216 / 236">
            <a:extLst xmlns:a="http://schemas.openxmlformats.org/drawingml/2006/main">
              <a:ext uri="{FF2B5EF4-FFF2-40B4-BE49-F238E27FC236}">
                <a16:creationId xmlns:a16="http://schemas.microsoft.com/office/drawing/2014/main" id="{A1CA3E16-1F85-47BB-8501-859A1A71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57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185 / 216 / 236</a:t>
            </a:r>
          </a:p>
        </p:txBody>
      </p:sp>
      <p:sp>
        <p:nvSpPr>
          <p:cNvPr id="20" name="text-Buyer conversations">
            <a:extLst xmlns:a="http://schemas.openxmlformats.org/drawingml/2006/main">
              <a:ext uri="{FF2B5EF4-FFF2-40B4-BE49-F238E27FC236}">
                <a16:creationId xmlns:a16="http://schemas.microsoft.com/office/drawing/2014/main" id="{DF531115-21BB-48A6-BAD3-9469AAE0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7212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Buyer conversations</a:t>
            </a:r>
          </a:p>
        </p:txBody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0D375B10-D0C8-4542-9AE0-7ACD52EA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1924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ccount Manager">
            <a:extLst xmlns:a="http://schemas.openxmlformats.org/drawingml/2006/main">
              <a:ext uri="{FF2B5EF4-FFF2-40B4-BE49-F238E27FC236}">
                <a16:creationId xmlns:a16="http://schemas.microsoft.com/office/drawing/2014/main" id="{44895B13-8774-438E-A9C7-BB0D093A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Account Manager</a:t>
            </a:r>
          </a:p>
        </p:txBody>
      </p:sp>
      <p:sp>
        <p:nvSpPr>
          <p:cNvPr id="23" name="text-#D3C6E7">
            <a:extLst xmlns:a="http://schemas.openxmlformats.org/drawingml/2006/main">
              <a:ext uri="{FF2B5EF4-FFF2-40B4-BE49-F238E27FC236}">
                <a16:creationId xmlns:a16="http://schemas.microsoft.com/office/drawing/2014/main" id="{4166BD46-070E-45C7-ABEA-FDAB0D5D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339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#D3C6E7</a:t>
            </a:r>
          </a:p>
        </p:txBody>
      </p:sp>
      <p:sp>
        <p:nvSpPr>
          <p:cNvPr id="24" name="text-RGB 211 / 198 / 231">
            <a:extLst xmlns:a="http://schemas.openxmlformats.org/drawingml/2006/main">
              <a:ext uri="{FF2B5EF4-FFF2-40B4-BE49-F238E27FC236}">
                <a16:creationId xmlns:a16="http://schemas.microsoft.com/office/drawing/2014/main" id="{01840BBF-1575-40D9-B195-97DB9E97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211 / 198 / 231</a:t>
            </a:r>
          </a:p>
        </p:txBody>
      </p:sp>
      <p:sp>
        <p:nvSpPr>
          <p:cNvPr id="25" name="text-Client relationships">
            <a:extLst xmlns:a="http://schemas.openxmlformats.org/drawingml/2006/main">
              <a:ext uri="{FF2B5EF4-FFF2-40B4-BE49-F238E27FC236}">
                <a16:creationId xmlns:a16="http://schemas.microsoft.com/office/drawing/2014/main" id="{D0833A2E-B278-4C09-A147-8A3CB5B3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7212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Client relationships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AC8A67C6-E03E-4779-921D-BF713A20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76450"/>
            <a:ext cx="1924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Operations">
            <a:extLst xmlns:a="http://schemas.openxmlformats.org/drawingml/2006/main">
              <a:ext uri="{FF2B5EF4-FFF2-40B4-BE49-F238E27FC236}">
                <a16:creationId xmlns:a16="http://schemas.microsoft.com/office/drawing/2014/main" id="{4A62BAA1-7BA3-4F4F-9F52-2313014B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529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Operations</a:t>
            </a:r>
          </a:p>
        </p:txBody>
      </p:sp>
      <p:sp>
        <p:nvSpPr>
          <p:cNvPr id="28" name="text-#C6D4B5">
            <a:extLst xmlns:a="http://schemas.openxmlformats.org/drawingml/2006/main">
              <a:ext uri="{FF2B5EF4-FFF2-40B4-BE49-F238E27FC236}">
                <a16:creationId xmlns:a16="http://schemas.microsoft.com/office/drawing/2014/main" id="{D0F5A8B4-6AC9-42ED-82E4-672C61DC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339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#C6D4B5</a:t>
            </a:r>
          </a:p>
        </p:txBody>
      </p:sp>
      <p:sp>
        <p:nvSpPr>
          <p:cNvPr id="29" name="text-RGB 198 / 212 / 181">
            <a:extLst xmlns:a="http://schemas.openxmlformats.org/drawingml/2006/main">
              <a:ext uri="{FF2B5EF4-FFF2-40B4-BE49-F238E27FC236}">
                <a16:creationId xmlns:a16="http://schemas.microsoft.com/office/drawing/2014/main" id="{EAB98322-A3B2-4D04-B4E0-20D45A29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57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198 / 212 / 181</a:t>
            </a:r>
          </a:p>
        </p:txBody>
      </p:sp>
      <p:sp>
        <p:nvSpPr>
          <p:cNvPr id="30" name="text-Capacity and timing">
            <a:extLst xmlns:a="http://schemas.openxmlformats.org/drawingml/2006/main">
              <a:ext uri="{FF2B5EF4-FFF2-40B4-BE49-F238E27FC236}">
                <a16:creationId xmlns:a16="http://schemas.microsoft.com/office/drawing/2014/main" id="{42FA4801-FE10-47B9-B24A-ACCFFCFD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7212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Capacity and timing</a:t>
            </a:r>
          </a:p>
        </p:txBody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C6571A73-EAB1-48A1-A74E-511D5996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076450"/>
            <a:ext cx="1924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Finance">
            <a:extLst xmlns:a="http://schemas.openxmlformats.org/drawingml/2006/main">
              <a:ext uri="{FF2B5EF4-FFF2-40B4-BE49-F238E27FC236}">
                <a16:creationId xmlns:a16="http://schemas.microsoft.com/office/drawing/2014/main" id="{BD39A4B0-6076-47E3-A78B-F0A4766C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1529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Finance</a:t>
            </a:r>
          </a:p>
        </p:txBody>
      </p:sp>
      <p:sp>
        <p:nvSpPr>
          <p:cNvPr id="33" name="text-#B6D9C6">
            <a:extLst xmlns:a="http://schemas.openxmlformats.org/drawingml/2006/main">
              <a:ext uri="{FF2B5EF4-FFF2-40B4-BE49-F238E27FC236}">
                <a16:creationId xmlns:a16="http://schemas.microsoft.com/office/drawing/2014/main" id="{68D21EA0-D10A-4351-88C8-15A06794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339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#B6D9C6</a:t>
            </a:r>
          </a:p>
        </p:txBody>
      </p:sp>
      <p:sp>
        <p:nvSpPr>
          <p:cNvPr id="34" name="text-RGB 182 / 217 / 198">
            <a:extLst xmlns:a="http://schemas.openxmlformats.org/drawingml/2006/main">
              <a:ext uri="{FF2B5EF4-FFF2-40B4-BE49-F238E27FC236}">
                <a16:creationId xmlns:a16="http://schemas.microsoft.com/office/drawing/2014/main" id="{A262531C-C74A-47F6-99AD-E7388FBB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057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RGB 182 / 217 / 198</a:t>
            </a:r>
          </a:p>
        </p:txBody>
      </p:sp>
      <p:sp>
        <p:nvSpPr>
          <p:cNvPr id="35" name="text-Payment records">
            <a:extLst xmlns:a="http://schemas.openxmlformats.org/drawingml/2006/main">
              <a:ext uri="{FF2B5EF4-FFF2-40B4-BE49-F238E27FC236}">
                <a16:creationId xmlns:a16="http://schemas.microsoft.com/office/drawing/2014/main" id="{77E72029-3D33-4F2F-AE18-8CE0B6B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57212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Payment records</a:t>
            </a:r>
          </a:p>
        </p:txBody>
      </p:sp>
      <p:sp>
        <p:nvSpPr>
          <p:cNvPr id="36" name="text-Use Ink #202A25 for text">
            <a:extLst xmlns:a="http://schemas.openxmlformats.org/drawingml/2006/main">
              <a:ext uri="{FF2B5EF4-FFF2-40B4-BE49-F238E27FC236}">
                <a16:creationId xmlns:a16="http://schemas.microsoft.com/office/drawing/2014/main" id="{0EF94F58-9BD9-4D86-ACCA-A02ADDB8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Use Ink #202A25 for text on these tints. Keep the role name visible. Finance mint does not mean success; Promoter coral does not mean error.</a:t>
            </a:r>
          </a:p>
        </p:txBody>
      </p:sp>
    </p:spTree>
    <p:extLst>
      <p:ext uri="{BB962C8B-B14F-4D97-AF65-F5344CB8AC3E}">
        <p14:creationId xmlns:p14="http://schemas.microsoft.com/office/powerpoint/2010/main" val="11755533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0ECD2043-8169-4051-8F54-7E6CBDFE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Status colors">
            <a:extLst xmlns:a="http://schemas.openxmlformats.org/drawingml/2006/main">
              <a:ext uri="{FF2B5EF4-FFF2-40B4-BE49-F238E27FC236}">
                <a16:creationId xmlns:a16="http://schemas.microsoft.com/office/drawing/2014/main" id="{85331DFC-3D9D-4801-A7A0-9675619A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Status colors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5A75A79-BDD3-44C8-8C7B-23E7CB7F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F8A7DBAB-B095-48B3-B637-F469F8D9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19">
            <a:extLst xmlns:a="http://schemas.openxmlformats.org/drawingml/2006/main">
              <a:ext uri="{FF2B5EF4-FFF2-40B4-BE49-F238E27FC236}">
                <a16:creationId xmlns:a16="http://schemas.microsoft.com/office/drawing/2014/main" id="{CC0FB5A8-D2FB-4FCC-B63A-CA20F66A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D16AB6B1-109A-448D-8E4F-57F0486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952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✓">
            <a:extLst xmlns:a="http://schemas.openxmlformats.org/drawingml/2006/main">
              <a:ext uri="{FF2B5EF4-FFF2-40B4-BE49-F238E27FC236}">
                <a16:creationId xmlns:a16="http://schemas.microsoft.com/office/drawing/2014/main" id="{C04C0CD4-5A29-410F-81F0-2C8E710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68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684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E6848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text-Saved">
            <a:extLst xmlns:a="http://schemas.openxmlformats.org/drawingml/2006/main">
              <a:ext uri="{FF2B5EF4-FFF2-40B4-BE49-F238E27FC236}">
                <a16:creationId xmlns:a16="http://schemas.microsoft.com/office/drawing/2014/main" id="{16C99663-326A-4904-A244-44F609ED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E684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E684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6848"/>
                </a:solidFill>
                <a:latin typeface="DejaVu Sans"/>
                <a:ea typeface="DejaVu Sans"/>
                <a:cs typeface="DejaVu Sans"/>
              </a:rPr>
              <a:t>Saved</a:t>
            </a:r>
          </a:p>
        </p:txBody>
      </p:sp>
      <p:sp>
        <p:nvSpPr>
          <p:cNvPr id="9" name="text-Success">
            <a:extLst xmlns:a="http://schemas.openxmlformats.org/drawingml/2006/main">
              <a:ext uri="{FF2B5EF4-FFF2-40B4-BE49-F238E27FC236}">
                <a16:creationId xmlns:a16="http://schemas.microsoft.com/office/drawing/2014/main" id="{268C5625-AAF0-4B91-BA9E-A10DEB05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Success</a:t>
            </a:r>
          </a:p>
        </p:txBody>
      </p:sp>
      <p:sp>
        <p:nvSpPr>
          <p:cNvPr id="10" name="text-Text #1E6848&#10;Surface #ED">
            <a:extLst xmlns:a="http://schemas.openxmlformats.org/drawingml/2006/main">
              <a:ext uri="{FF2B5EF4-FFF2-40B4-BE49-F238E27FC236}">
                <a16:creationId xmlns:a16="http://schemas.microsoft.com/office/drawing/2014/main" id="{193D04F5-14D9-42AA-B15E-E6CDF60D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Text #1E6848</a:t>
            </a:r>
          </a:p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Surface #EDF5EF</a:t>
            </a:r>
          </a:p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Contrast 6.04:1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E7D7DCC2-6EAB-49AF-9195-ABD596F8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38350"/>
            <a:ext cx="2952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!">
            <a:extLst xmlns:a="http://schemas.openxmlformats.org/drawingml/2006/main">
              <a:ext uri="{FF2B5EF4-FFF2-40B4-BE49-F238E27FC236}">
                <a16:creationId xmlns:a16="http://schemas.microsoft.com/office/drawing/2014/main" id="{0502F279-A63A-43C7-AD12-C4567245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86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80520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80520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80520B"/>
                </a:solidFill>
                <a:latin typeface="DejaVu Sans"/>
                <a:ea typeface="DejaVu Sans"/>
                <a:cs typeface="DejaVu Sans"/>
              </a:rPr>
              <a:t>!</a:t>
            </a:r>
          </a:p>
        </p:txBody>
      </p:sp>
      <p:sp>
        <p:nvSpPr>
          <p:cNvPr id="13" name="text-Needs review">
            <a:extLst xmlns:a="http://schemas.openxmlformats.org/drawingml/2006/main">
              <a:ext uri="{FF2B5EF4-FFF2-40B4-BE49-F238E27FC236}">
                <a16:creationId xmlns:a16="http://schemas.microsoft.com/office/drawing/2014/main" id="{FF326CFC-F6FE-4872-9287-B783C137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67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0520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520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0520B"/>
                </a:solidFill>
                <a:latin typeface="DejaVu Sans"/>
                <a:ea typeface="DejaVu Sans"/>
                <a:cs typeface="DejaVu Sans"/>
              </a:rPr>
              <a:t>Needs review</a:t>
            </a:r>
          </a:p>
        </p:txBody>
      </p:sp>
      <p:sp>
        <p:nvSpPr>
          <p:cNvPr id="14" name="text-Warning">
            <a:extLst xmlns:a="http://schemas.openxmlformats.org/drawingml/2006/main">
              <a:ext uri="{FF2B5EF4-FFF2-40B4-BE49-F238E27FC236}">
                <a16:creationId xmlns:a16="http://schemas.microsoft.com/office/drawing/2014/main" id="{75E72D7A-2B23-4D8C-B0AD-17E0F3D0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10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Warning</a:t>
            </a:r>
          </a:p>
        </p:txBody>
      </p:sp>
      <p:sp>
        <p:nvSpPr>
          <p:cNvPr id="15" name="text-Text #80520B&#10;Surface #FF">
            <a:extLst xmlns:a="http://schemas.openxmlformats.org/drawingml/2006/main">
              <a:ext uri="{FF2B5EF4-FFF2-40B4-BE49-F238E27FC236}">
                <a16:creationId xmlns:a16="http://schemas.microsoft.com/office/drawing/2014/main" id="{AA043F2C-3E0D-4159-9CDC-15129832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Text #80520B</a:t>
            </a:r>
          </a:p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Surface #FFF1D6</a:t>
            </a:r>
          </a:p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Contrast 6.01:1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8A1A3793-60BD-4AC4-99F0-F79A1670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2952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×">
            <a:extLst xmlns:a="http://schemas.openxmlformats.org/drawingml/2006/main">
              <a:ext uri="{FF2B5EF4-FFF2-40B4-BE49-F238E27FC236}">
                <a16:creationId xmlns:a16="http://schemas.microsoft.com/office/drawing/2014/main" id="{B87B8F30-7A3F-45CA-B0D7-A14B9407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86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×</a:t>
            </a:r>
          </a:p>
        </p:txBody>
      </p:sp>
      <p:sp>
        <p:nvSpPr>
          <p:cNvPr id="18" name="text-Connection failed">
            <a:extLst xmlns:a="http://schemas.openxmlformats.org/drawingml/2006/main">
              <a:ext uri="{FF2B5EF4-FFF2-40B4-BE49-F238E27FC236}">
                <a16:creationId xmlns:a16="http://schemas.microsoft.com/office/drawing/2014/main" id="{C1543B4C-689E-4A91-B2A6-7662748C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9B343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9B3431"/>
                </a:solidFill>
                <a:latin typeface="DejaVu Sans"/>
                <a:ea typeface="DejaVu Sans"/>
                <a:cs typeface="DejaVu Sans"/>
              </a:rPr>
              <a:t>Connection failed</a:t>
            </a:r>
          </a:p>
        </p:txBody>
      </p:sp>
      <p:sp>
        <p:nvSpPr>
          <p:cNvPr id="19" name="text-Error">
            <a:extLst xmlns:a="http://schemas.openxmlformats.org/drawingml/2006/main">
              <a:ext uri="{FF2B5EF4-FFF2-40B4-BE49-F238E27FC236}">
                <a16:creationId xmlns:a16="http://schemas.microsoft.com/office/drawing/2014/main" id="{85C165B5-AC9A-446B-9DA2-3CB8038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Error</a:t>
            </a:r>
          </a:p>
        </p:txBody>
      </p:sp>
      <p:sp>
        <p:nvSpPr>
          <p:cNvPr id="20" name="text-Text #9B3431&#10;Surface #FB">
            <a:extLst xmlns:a="http://schemas.openxmlformats.org/drawingml/2006/main">
              <a:ext uri="{FF2B5EF4-FFF2-40B4-BE49-F238E27FC236}">
                <a16:creationId xmlns:a16="http://schemas.microsoft.com/office/drawing/2014/main" id="{DCF33F07-758A-4D86-B65C-C09938B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2917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Text #9B3431</a:t>
            </a:r>
          </a:p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Surface #FBE8E4</a:t>
            </a:r>
          </a:p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Contrast 6.06:1</a:t>
            </a:r>
          </a:p>
        </p:txBody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538D9CBC-5474-4567-9828-F6E56345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38350"/>
            <a:ext cx="2952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i">
            <a:extLst xmlns:a="http://schemas.openxmlformats.org/drawingml/2006/main">
              <a:ext uri="{FF2B5EF4-FFF2-40B4-BE49-F238E27FC236}">
                <a16:creationId xmlns:a16="http://schemas.microsoft.com/office/drawing/2014/main" id="{1218C9E5-80B0-47F6-817B-273F3717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5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5F8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55F82"/>
                </a:solidFill>
                <a:latin typeface="DejaVu Sans"/>
                <a:ea typeface="DejaVu Sans"/>
                <a:cs typeface="DejaVu Sans"/>
              </a:rPr>
              <a:t>i</a:t>
            </a:r>
          </a:p>
        </p:txBody>
      </p:sp>
      <p:sp>
        <p:nvSpPr>
          <p:cNvPr id="23" name="text-Queued">
            <a:extLst xmlns:a="http://schemas.openxmlformats.org/drawingml/2006/main">
              <a:ext uri="{FF2B5EF4-FFF2-40B4-BE49-F238E27FC236}">
                <a16:creationId xmlns:a16="http://schemas.microsoft.com/office/drawing/2014/main" id="{14346DA2-E2B2-4403-B4B7-10338B38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55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5F8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55F82"/>
                </a:solidFill>
                <a:latin typeface="DejaVu Sans"/>
                <a:ea typeface="DejaVu Sans"/>
                <a:cs typeface="DejaVu Sans"/>
              </a:rPr>
              <a:t>Queued</a:t>
            </a:r>
          </a:p>
        </p:txBody>
      </p:sp>
      <p:sp>
        <p:nvSpPr>
          <p:cNvPr id="24" name="text-Information">
            <a:extLst xmlns:a="http://schemas.openxmlformats.org/drawingml/2006/main">
              <a:ext uri="{FF2B5EF4-FFF2-40B4-BE49-F238E27FC236}">
                <a16:creationId xmlns:a16="http://schemas.microsoft.com/office/drawing/2014/main" id="{47E2DAFC-5341-43D6-9D16-1A0FEE08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10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21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Information</a:t>
            </a:r>
          </a:p>
        </p:txBody>
      </p:sp>
      <p:sp>
        <p:nvSpPr>
          <p:cNvPr id="25" name="text-Text #255F82&#10;Surface #E9">
            <a:extLst xmlns:a="http://schemas.openxmlformats.org/drawingml/2006/main">
              <a:ext uri="{FF2B5EF4-FFF2-40B4-BE49-F238E27FC236}">
                <a16:creationId xmlns:a16="http://schemas.microsoft.com/office/drawing/2014/main" id="{CD316246-43E0-454B-A41E-A013B358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2917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Text #255F82</a:t>
            </a:r>
          </a:p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Surface #E9F2F8</a:t>
            </a:r>
          </a:p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Contrast 6.10:1</a:t>
            </a:r>
          </a:p>
        </p:txBody>
      </p:sp>
      <p:sp>
        <p:nvSpPr>
          <p:cNvPr id="26" name="text-State text is always req">
            <a:extLst xmlns:a="http://schemas.openxmlformats.org/drawingml/2006/main">
              <a:ext uri="{FF2B5EF4-FFF2-40B4-BE49-F238E27FC236}">
                <a16:creationId xmlns:a16="http://schemas.microsoft.com/office/drawing/2014/main" id="{EF01E398-D620-40E2-AB4A-FF1FACD9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State text is always required. Semantic color treatments also include an icon. Plain state text on a neutral surface is sufficient. Keep role tints separate.</a:t>
            </a:r>
          </a:p>
        </p:txBody>
      </p:sp>
    </p:spTree>
    <p:extLst>
      <p:ext uri="{BB962C8B-B14F-4D97-AF65-F5344CB8AC3E}">
        <p14:creationId xmlns:p14="http://schemas.microsoft.com/office/powerpoint/2010/main" val="19516585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D5379210-C26A-4AB9-87E2-6B546DD2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Contrast and functional ">
            <a:extLst xmlns:a="http://schemas.openxmlformats.org/drawingml/2006/main">
              <a:ext uri="{FF2B5EF4-FFF2-40B4-BE49-F238E27FC236}">
                <a16:creationId xmlns:a16="http://schemas.microsoft.com/office/drawing/2014/main" id="{333F21F2-1A44-470B-BD5C-6A6D425C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Contrast and functional color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6A78AB7-AC7B-4D77-8D5E-52AF9537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47DEA718-0493-47EC-9832-9C40F578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859C7A11-F519-45F3-A7F1-963E0564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9D33E-E976-4330-9A1E-1BE8852B59B4}"/>
              </a:ext>
            </a:extLst>
          </p:cNvPr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2496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809750"/>
                <a:gridCol w="5734050"/>
              </a:tblGrid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pair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Ratio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Ink on Ivory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13.33:1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Body text and essential terms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Muted on Ivory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5.82:1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Supporting 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White on Forest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7.79:1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buttons and reversed identity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Forest on Selected #E5EFE7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6.61:1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Selected navigation with a second cue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Border on Paper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1.36:1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Decoration only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7" name="text-Internal targets">
            <a:extLst xmlns:a="http://schemas.openxmlformats.org/drawingml/2006/main">
              <a:ext uri="{FF2B5EF4-FFF2-40B4-BE49-F238E27FC236}">
                <a16:creationId xmlns:a16="http://schemas.microsoft.com/office/drawing/2014/main" id="{1594884A-666B-4573-B1DE-A26E9839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0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Internal targets</a:t>
            </a:r>
          </a:p>
        </p:txBody>
      </p:sp>
      <p:sp>
        <p:nvSpPr>
          <p:cNvPr id="8" name="text-Normal text ≥ 4.5:1. Req">
            <a:extLst xmlns:a="http://schemas.openxmlformats.org/drawingml/2006/main">
              <a:ext uri="{FF2B5EF4-FFF2-40B4-BE49-F238E27FC236}">
                <a16:creationId xmlns:a16="http://schemas.microsoft.com/office/drawing/2014/main" id="{F73140A4-07E2-4D31-A7A6-731D90F3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912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Normal text ≥ 4.5:1. Required UI boundaries and focus ≥ 3:1.</a:t>
            </a:r>
          </a:p>
          <a:p xmlns:a="http://schemas.openxmlformats.org/drawingml/2006/main">
            <a:pPr algn="l">
              <a:def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Use Muted for input borders. Recheck transparency, imagery and actual rendered states.</a:t>
            </a:r>
          </a:p>
        </p:txBody>
      </p:sp>
    </p:spTree>
    <p:extLst>
      <p:ext uri="{BB962C8B-B14F-4D97-AF65-F5344CB8AC3E}">
        <p14:creationId xmlns:p14="http://schemas.microsoft.com/office/powerpoint/2010/main" val="16833386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154BDC5E-A664-4951-B4FE-66BE413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Typography families">
            <a:extLst xmlns:a="http://schemas.openxmlformats.org/drawingml/2006/main">
              <a:ext uri="{FF2B5EF4-FFF2-40B4-BE49-F238E27FC236}">
                <a16:creationId xmlns:a16="http://schemas.microsoft.com/office/drawing/2014/main" id="{7A442BA4-E3DA-4F59-A37F-DB4578D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Typography families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1FA99B6-C8C2-4552-8FAC-FDA5554B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C1BC8547-0EEF-4909-BDD4-3B2B9D17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4A17DCE3-0730-418C-BAFA-FA91AC6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6" name="text-DejaVu Serif">
            <a:extLst xmlns:a="http://schemas.openxmlformats.org/drawingml/2006/main">
              <a:ext uri="{FF2B5EF4-FFF2-40B4-BE49-F238E27FC236}">
                <a16:creationId xmlns:a16="http://schemas.microsoft.com/office/drawing/2014/main" id="{72F624AD-5F7E-4830-93C8-949197A9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09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420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420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DejaVu Serif</a:t>
            </a:r>
          </a:p>
        </p:txBody>
      </p:sp>
      <p:sp>
        <p:nvSpPr>
          <p:cNvPr id="7" name="text-A business team&#10;behind y">
            <a:extLst xmlns:a="http://schemas.openxmlformats.org/drawingml/2006/main">
              <a:ext uri="{FF2B5EF4-FFF2-40B4-BE49-F238E27FC236}">
                <a16:creationId xmlns:a16="http://schemas.microsoft.com/office/drawing/2014/main" id="{9D02F48E-4D7A-4A00-8336-8C466419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6191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3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3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A business team</a:t>
            </a:r>
          </a:p>
          <a:p xmlns:a="http://schemas.openxmlformats.org/drawingml/2006/main">
            <a:pPr algn="l">
              <a:defRPr sz="33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3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behind your work.</a:t>
            </a:r>
          </a:p>
        </p:txBody>
      </p:sp>
      <p:sp>
        <p:nvSpPr>
          <p:cNvPr id="8" name="text-Editorial display / Regu">
            <a:extLst xmlns:a="http://schemas.openxmlformats.org/drawingml/2006/main">
              <a:ext uri="{FF2B5EF4-FFF2-40B4-BE49-F238E27FC236}">
                <a16:creationId xmlns:a16="http://schemas.microsoft.com/office/drawing/2014/main" id="{60E85110-3E86-464B-83BA-5585E349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Editorial display / Regular 400</a:t>
            </a:r>
          </a:p>
        </p:txBody>
      </p:sp>
      <p:sp>
        <p:nvSpPr>
          <p:cNvPr id="9" name="text-DejaVu Sans">
            <a:extLst xmlns:a="http://schemas.openxmlformats.org/drawingml/2006/main">
              <a:ext uri="{FF2B5EF4-FFF2-40B4-BE49-F238E27FC236}">
                <a16:creationId xmlns:a16="http://schemas.microsoft.com/office/drawing/2014/main" id="{7C1F63DD-FCBB-446D-AEC4-996B572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548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DejaVu Sans</a:t>
            </a:r>
          </a:p>
        </p:txBody>
      </p:sp>
      <p:sp>
        <p:nvSpPr>
          <p:cNvPr id="10" name="text-Your proposal draft is r">
            <a:extLst xmlns:a="http://schemas.openxmlformats.org/drawingml/2006/main">
              <a:ext uri="{FF2B5EF4-FFF2-40B4-BE49-F238E27FC236}">
                <a16:creationId xmlns:a16="http://schemas.microsoft.com/office/drawing/2014/main" id="{1DF9995E-5908-4126-9CDA-B6A380F3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54292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Your proposal draft is ready.</a:t>
            </a:r>
          </a:p>
          <a:p xmlns:a="http://schemas.openxmlformats.org/drawingml/2006/main">
            <a:pPr algn="l">
              <a:defRPr sz="21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Review the scope and choose</a:t>
            </a:r>
          </a:p>
          <a:p xmlns:a="http://schemas.openxmlformats.org/drawingml/2006/main">
            <a:pPr algn="l">
              <a:defRPr sz="217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what happens next.</a:t>
            </a:r>
          </a:p>
        </p:txBody>
      </p:sp>
      <p:sp>
        <p:nvSpPr>
          <p:cNvPr id="11" name="text-Interface and body / Reg">
            <a:extLst xmlns:a="http://schemas.openxmlformats.org/drawingml/2006/main">
              <a:ext uri="{FF2B5EF4-FFF2-40B4-BE49-F238E27FC236}">
                <a16:creationId xmlns:a16="http://schemas.microsoft.com/office/drawing/2014/main" id="{E28348EA-ADB9-4C73-B3AF-6806C35E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91125"/>
            <a:ext cx="548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Interface and body / Regular 400, Bold 700</a:t>
            </a:r>
          </a:p>
        </p:txBody>
      </p:sp>
      <p:sp>
        <p:nvSpPr>
          <p:cNvPr id="12" name="text-DejaVu fonts use the Bit">
            <a:extLst xmlns:a="http://schemas.openxmlformats.org/drawingml/2006/main">
              <a:ext uri="{FF2B5EF4-FFF2-40B4-BE49-F238E27FC236}">
                <a16:creationId xmlns:a16="http://schemas.microsoft.com/office/drawing/2014/main" id="{36D1CB72-1429-45D7-B40C-7125B489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DejaVu fonts use the Bitstream Vera license; DejaVu changes are public domain. Install the included fonts for PowerPoint editing. The logo wordmark is an outlined asset.</a:t>
            </a:r>
          </a:p>
        </p:txBody>
      </p:sp>
    </p:spTree>
    <p:extLst>
      <p:ext uri="{BB962C8B-B14F-4D97-AF65-F5344CB8AC3E}">
        <p14:creationId xmlns:p14="http://schemas.microsoft.com/office/powerpoint/2010/main" val="797916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D37BE391-E6FC-4708-ADB6-5E6AAD19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Typography hierarchy">
            <a:extLst xmlns:a="http://schemas.openxmlformats.org/drawingml/2006/main">
              <a:ext uri="{FF2B5EF4-FFF2-40B4-BE49-F238E27FC236}">
                <a16:creationId xmlns:a16="http://schemas.microsoft.com/office/drawing/2014/main" id="{3CE92A02-02DF-4458-BA7A-479B57EF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Typography hierarchy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2BA7C7-B0EB-449E-AC32-0852D8C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0527BDE3-F672-490A-B0DB-A4D7F088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2CDD75B1-EE11-46D4-8776-DE3E5714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4A793-9712-4DF6-9C36-4F44C0122E04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2496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238500"/>
                <a:gridCol w="2876550"/>
                <a:gridCol w="4572000"/>
              </a:tblGrid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Family / weight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Size / line height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Serif Regular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 / 52 px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Page title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Serif Regular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 / 40 px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Editorial section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Sans Bold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/ 32 px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Functional section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Body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Sans Regular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 / 24 px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Reading and controls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Small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Sans Regular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/ 20 px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Supporting labels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Metadata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Sans Regular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/ 16 px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Timestamps and sources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7" name="text-Fallbacks: Georgia / Tim">
            <a:extLst xmlns:a="http://schemas.openxmlformats.org/drawingml/2006/main">
              <a:ext uri="{FF2B5EF4-FFF2-40B4-BE49-F238E27FC236}">
                <a16:creationId xmlns:a16="http://schemas.microsoft.com/office/drawing/2014/main" id="{FB1D7B0F-A209-46AA-A1E2-E381F324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Fallbacks: Georgia / Times New Roman for display; Arial / system-ui for Sans. At ≤768 px, H1 becomes 32/40 px. Use right-aligned tabular numerals for amounts.</a:t>
            </a:r>
          </a:p>
        </p:txBody>
      </p:sp>
    </p:spTree>
    <p:extLst>
      <p:ext uri="{BB962C8B-B14F-4D97-AF65-F5344CB8AC3E}">
        <p14:creationId xmlns:p14="http://schemas.microsoft.com/office/powerpoint/2010/main" val="4551277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BB78EC83-D04D-45C0-886C-CDA769D1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Spacing and grids">
            <a:extLst xmlns:a="http://schemas.openxmlformats.org/drawingml/2006/main">
              <a:ext uri="{FF2B5EF4-FFF2-40B4-BE49-F238E27FC236}">
                <a16:creationId xmlns:a16="http://schemas.microsoft.com/office/drawing/2014/main" id="{90DF5485-C0E9-4B0E-BC12-574BE6D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Spacing and grids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ACC606E-D031-486A-87FD-4A39E4C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B4B1310C-F869-438D-A064-8D296BB7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3">
            <a:extLst xmlns:a="http://schemas.openxmlformats.org/drawingml/2006/main">
              <a:ext uri="{FF2B5EF4-FFF2-40B4-BE49-F238E27FC236}">
                <a16:creationId xmlns:a16="http://schemas.microsoft.com/office/drawing/2014/main" id="{C08288DF-E44A-4B1A-B210-F53D6E69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99660441-EC2A-4031-BDDC-E96EDF3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6858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F6B9F90D-2E37-42C5-B56B-6DCE33FC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A25FAD1-351A-4AFB-9A4A-5964441F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00275"/>
            <a:ext cx="1371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5D07E1F-645F-4F8F-9A12-7337DAEC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E2EF5D51-9CC2-414D-B9CD-B7037AED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0275"/>
            <a:ext cx="2057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2">
            <a:extLst xmlns:a="http://schemas.openxmlformats.org/drawingml/2006/main">
              <a:ext uri="{FF2B5EF4-FFF2-40B4-BE49-F238E27FC236}">
                <a16:creationId xmlns:a16="http://schemas.microsoft.com/office/drawing/2014/main" id="{0EB7B45C-0683-477E-97FD-C00BF69E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B29D17A6-CFFF-41F2-86B6-9A034998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0275"/>
            <a:ext cx="27432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6">
            <a:extLst xmlns:a="http://schemas.openxmlformats.org/drawingml/2006/main">
              <a:ext uri="{FF2B5EF4-FFF2-40B4-BE49-F238E27FC236}">
                <a16:creationId xmlns:a16="http://schemas.microsoft.com/office/drawing/2014/main" id="{99319879-B6AA-42F0-839B-D5950FC6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796A4C4-FEF0-44F9-A9B6-9EB5E374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41148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4">
            <a:extLst xmlns:a="http://schemas.openxmlformats.org/drawingml/2006/main">
              <a:ext uri="{FF2B5EF4-FFF2-40B4-BE49-F238E27FC236}">
                <a16:creationId xmlns:a16="http://schemas.microsoft.com/office/drawing/2014/main" id="{98DDC542-F41C-489B-B473-F24725AD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D015215F-EC6B-43CF-90FB-B8999B8E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0275"/>
            <a:ext cx="548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32">
            <a:extLst xmlns:a="http://schemas.openxmlformats.org/drawingml/2006/main">
              <a:ext uri="{FF2B5EF4-FFF2-40B4-BE49-F238E27FC236}">
                <a16:creationId xmlns:a16="http://schemas.microsoft.com/office/drawing/2014/main" id="{96AAAF55-B5A9-4E37-B181-F2F17F7D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E6C03107-74C8-44BE-9E5D-053FCFA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00275"/>
            <a:ext cx="8229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48">
            <a:extLst xmlns:a="http://schemas.openxmlformats.org/drawingml/2006/main">
              <a:ext uri="{FF2B5EF4-FFF2-40B4-BE49-F238E27FC236}">
                <a16:creationId xmlns:a16="http://schemas.microsoft.com/office/drawing/2014/main" id="{ED5D4ED5-0603-45A1-AC88-3F618F95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48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C09B3BDD-DF73-4863-BD0A-71DBD122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200275"/>
            <a:ext cx="109728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64">
            <a:extLst xmlns:a="http://schemas.openxmlformats.org/drawingml/2006/main">
              <a:ext uri="{FF2B5EF4-FFF2-40B4-BE49-F238E27FC236}">
                <a16:creationId xmlns:a16="http://schemas.microsoft.com/office/drawing/2014/main" id="{576C2C12-DDCD-4CA0-B62E-35E74AB9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64</a:t>
            </a:r>
          </a:p>
        </p:txBody>
      </p:sp>
      <p:sp>
        <p:nvSpPr>
          <p:cNvPr id="22" name="text-4 px base unit">
            <a:extLst xmlns:a="http://schemas.openxmlformats.org/drawingml/2006/main">
              <a:ext uri="{FF2B5EF4-FFF2-40B4-BE49-F238E27FC236}">
                <a16:creationId xmlns:a16="http://schemas.microsoft.com/office/drawing/2014/main" id="{EDC102F3-4FAA-426C-B30E-B3662FC8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7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4 px base unit</a:t>
            </a:r>
          </a:p>
        </p:txBody>
      </p:sp>
      <p:sp>
        <p:nvSpPr>
          <p:cNvPr id="23" name="text-16 px between related co">
            <a:extLst xmlns:a="http://schemas.openxmlformats.org/drawingml/2006/main">
              <a:ext uri="{FF2B5EF4-FFF2-40B4-BE49-F238E27FC236}">
                <a16:creationId xmlns:a16="http://schemas.microsoft.com/office/drawing/2014/main" id="{2337B7FC-A907-407D-8959-148EAE6F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429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16 px between related controls</a:t>
            </a:r>
          </a:p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24 px between card groups</a:t>
            </a:r>
          </a:p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32 px between desktop sections</a:t>
            </a:r>
          </a:p>
        </p:txBody>
      </p:sp>
      <p:sp>
        <p:nvSpPr>
          <p:cNvPr id="24" name="text-Desktop shell">
            <a:extLst xmlns:a="http://schemas.openxmlformats.org/drawingml/2006/main">
              <a:ext uri="{FF2B5EF4-FFF2-40B4-BE49-F238E27FC236}">
                <a16:creationId xmlns:a16="http://schemas.microsoft.com/office/drawing/2014/main" id="{B67B5ECE-3247-40BE-BF80-D17C1E3C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4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Desktop shell</a:t>
            </a:r>
          </a:p>
        </p:txBody>
      </p:sp>
      <p:sp>
        <p:nvSpPr>
          <p:cNvPr id="25" name="text-224 px sidebar / 72 px h">
            <a:extLst xmlns:a="http://schemas.openxmlformats.org/drawingml/2006/main">
              <a:ext uri="{FF2B5EF4-FFF2-40B4-BE49-F238E27FC236}">
                <a16:creationId xmlns:a16="http://schemas.microsoft.com/office/drawing/2014/main" id="{95CB45B4-FE4A-4C0C-86E6-1F49393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72025"/>
            <a:ext cx="5429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224 px sidebar / 72 px header</a:t>
            </a:r>
          </a:p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32 px workspace padding at ≥1280 px</a:t>
            </a:r>
          </a:p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2:1 content columns / 24 px gutter</a:t>
            </a:r>
          </a:p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24 px padding from 769-1279 px</a:t>
            </a:r>
          </a:p>
        </p:txBody>
      </p:sp>
      <p:sp>
        <p:nvSpPr>
          <p:cNvPr id="26" name="text-At ≤1024 px, collapse th">
            <a:extLst xmlns:a="http://schemas.openxmlformats.org/drawingml/2006/main">
              <a:ext uri="{FF2B5EF4-FFF2-40B4-BE49-F238E27FC236}">
                <a16:creationId xmlns:a16="http://schemas.microsoft.com/office/drawing/2014/main" id="{B7ED93D1-1B03-472F-AA5B-5EC9CE2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At ≤1024 px, collapse the context rail. At ≤768 px, use one content column, 16 px padding and bottom navigation with reserved safe-area space.</a:t>
            </a:r>
          </a:p>
        </p:txBody>
      </p:sp>
    </p:spTree>
    <p:extLst>
      <p:ext uri="{BB962C8B-B14F-4D97-AF65-F5344CB8AC3E}">
        <p14:creationId xmlns:p14="http://schemas.microsoft.com/office/powerpoint/2010/main" val="16975708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598086E6-FFA9-4807-B4D3-EEBF022E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Corners, elevation and c">
            <a:extLst xmlns:a="http://schemas.openxmlformats.org/drawingml/2006/main">
              <a:ext uri="{FF2B5EF4-FFF2-40B4-BE49-F238E27FC236}">
                <a16:creationId xmlns:a16="http://schemas.microsoft.com/office/drawing/2014/main" id="{ED9E0893-E6E2-4FCE-96C0-F633D094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Corners, elevation and control states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9A6242F-2651-49E8-A545-4FE902D3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08A1FA90-2D9A-48FD-B8B2-4D777CEF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99C3155C-5346-41A3-BB53-FC8EB4A1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729301A-EF3F-446F-9AA2-4CFBC68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9624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7" name="text-8 px">
            <a:extLst xmlns:a="http://schemas.openxmlformats.org/drawingml/2006/main">
              <a:ext uri="{FF2B5EF4-FFF2-40B4-BE49-F238E27FC236}">
                <a16:creationId xmlns:a16="http://schemas.microsoft.com/office/drawing/2014/main" id="{1B599B3D-4F85-4577-BD99-901190C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8 px</a:t>
            </a:r>
          </a:p>
        </p:txBody>
      </p:sp>
      <p:sp>
        <p:nvSpPr>
          <p:cNvPr id="8" name="text-Button / field">
            <a:extLst xmlns:a="http://schemas.openxmlformats.org/drawingml/2006/main">
              <a:ext uri="{FF2B5EF4-FFF2-40B4-BE49-F238E27FC236}">
                <a16:creationId xmlns:a16="http://schemas.microsoft.com/office/drawing/2014/main" id="{10263292-56BD-4E97-A9DB-0A2338C2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Button / field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12B62E70-ECC7-4E98-B528-F0168288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57400"/>
            <a:ext cx="39624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0" name="text-12 px">
            <a:extLst xmlns:a="http://schemas.openxmlformats.org/drawingml/2006/main">
              <a:ext uri="{FF2B5EF4-FFF2-40B4-BE49-F238E27FC236}">
                <a16:creationId xmlns:a16="http://schemas.microsoft.com/office/drawing/2014/main" id="{F1526B7F-9EE1-4A8B-AF9F-CE22437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24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12 px</a:t>
            </a:r>
          </a:p>
        </p:txBody>
      </p:sp>
      <p:sp>
        <p:nvSpPr>
          <p:cNvPr id="11" name="text-Card">
            <a:extLst xmlns:a="http://schemas.openxmlformats.org/drawingml/2006/main">
              <a:ext uri="{FF2B5EF4-FFF2-40B4-BE49-F238E27FC236}">
                <a16:creationId xmlns:a16="http://schemas.microsoft.com/office/drawing/2014/main" id="{13410011-B6DA-4816-BCD6-743CD27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242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Card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59AEF4D-D344-43E7-B406-9055E3B9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39624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3" name="text-16 px">
            <a:extLst xmlns:a="http://schemas.openxmlformats.org/drawingml/2006/main">
              <a:ext uri="{FF2B5EF4-FFF2-40B4-BE49-F238E27FC236}">
                <a16:creationId xmlns:a16="http://schemas.microsoft.com/office/drawing/2014/main" id="{EA41D01E-57BA-4D5E-B7D4-5BB0EA32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24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16 px</a:t>
            </a:r>
          </a:p>
        </p:txBody>
      </p:sp>
      <p:sp>
        <p:nvSpPr>
          <p:cNvPr id="14" name="text-Drawer">
            <a:extLst xmlns:a="http://schemas.openxmlformats.org/drawingml/2006/main">
              <a:ext uri="{FF2B5EF4-FFF2-40B4-BE49-F238E27FC236}">
                <a16:creationId xmlns:a16="http://schemas.microsoft.com/office/drawing/2014/main" id="{16D7DF8A-AF2F-4CC4-B34D-39BEE307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242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Drawer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B7B82B6D-AF1D-46A3-BF5E-6EB9491C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2266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Review draft">
            <a:extLst xmlns:a="http://schemas.openxmlformats.org/drawingml/2006/main">
              <a:ext uri="{FF2B5EF4-FFF2-40B4-BE49-F238E27FC236}">
                <a16:creationId xmlns:a16="http://schemas.microsoft.com/office/drawing/2014/main" id="{1EED5FFC-29DC-4A03-BBBF-397BB63E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draft</a:t>
            </a:r>
          </a:p>
        </p:txBody>
      </p:sp>
      <p:sp>
        <p:nvSpPr>
          <p:cNvPr id="17" name="text-Default">
            <a:extLst xmlns:a="http://schemas.openxmlformats.org/drawingml/2006/main">
              <a:ext uri="{FF2B5EF4-FFF2-40B4-BE49-F238E27FC236}">
                <a16:creationId xmlns:a16="http://schemas.microsoft.com/office/drawing/2014/main" id="{23C1DB24-337C-499A-9E04-372C731B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Default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8B5AAF1B-92F2-42F5-9986-666932C1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95825"/>
            <a:ext cx="2266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4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Review draft">
            <a:extLst xmlns:a="http://schemas.openxmlformats.org/drawingml/2006/main">
              <a:ext uri="{FF2B5EF4-FFF2-40B4-BE49-F238E27FC236}">
                <a16:creationId xmlns:a16="http://schemas.microsoft.com/office/drawing/2014/main" id="{DA707C6C-2383-4306-B25A-DB3FC1BB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101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draft</a:t>
            </a:r>
          </a:p>
        </p:txBody>
      </p:sp>
      <p:sp>
        <p:nvSpPr>
          <p:cNvPr id="20" name="text-Hover">
            <a:extLst xmlns:a="http://schemas.openxmlformats.org/drawingml/2006/main">
              <a:ext uri="{FF2B5EF4-FFF2-40B4-BE49-F238E27FC236}">
                <a16:creationId xmlns:a16="http://schemas.microsoft.com/office/drawing/2014/main" id="{47183C2D-70D3-4B37-8151-8E113D39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768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Hover</a:t>
            </a:r>
          </a:p>
        </p:txBody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980AEEC1-E487-4642-B152-A15BFEAE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95825"/>
            <a:ext cx="2266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3F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Review draft">
            <a:extLst xmlns:a="http://schemas.openxmlformats.org/drawingml/2006/main">
              <a:ext uri="{FF2B5EF4-FFF2-40B4-BE49-F238E27FC236}">
                <a16:creationId xmlns:a16="http://schemas.microsoft.com/office/drawing/2014/main" id="{323F3C4F-49A0-4C41-A104-B0968677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101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draft</a:t>
            </a:r>
          </a:p>
        </p:txBody>
      </p:sp>
      <p:sp>
        <p:nvSpPr>
          <p:cNvPr id="23" name="text-Pressed">
            <a:extLst xmlns:a="http://schemas.openxmlformats.org/drawingml/2006/main">
              <a:ext uri="{FF2B5EF4-FFF2-40B4-BE49-F238E27FC236}">
                <a16:creationId xmlns:a16="http://schemas.microsoft.com/office/drawing/2014/main" id="{241860EE-6FF0-4741-9BD9-601D01BB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768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Pressed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DA64E01D-B6A2-4888-B38D-9977312B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95825"/>
            <a:ext cx="2266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D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Review draft">
            <a:extLst xmlns:a="http://schemas.openxmlformats.org/drawingml/2006/main">
              <a:ext uri="{FF2B5EF4-FFF2-40B4-BE49-F238E27FC236}">
                <a16:creationId xmlns:a16="http://schemas.microsoft.com/office/drawing/2014/main" id="{C6D4BA7E-8112-4793-8F71-6604AA95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01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Review draft</a:t>
            </a:r>
          </a:p>
        </p:txBody>
      </p:sp>
      <p:sp>
        <p:nvSpPr>
          <p:cNvPr id="26" name="text-Disabled">
            <a:extLst xmlns:a="http://schemas.openxmlformats.org/drawingml/2006/main">
              <a:ext uri="{FF2B5EF4-FFF2-40B4-BE49-F238E27FC236}">
                <a16:creationId xmlns:a16="http://schemas.microsoft.com/office/drawing/2014/main" id="{95AD2CA7-D431-4904-AF7B-A7BF1AA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768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Disabled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64A58492-973A-46D3-866A-1E4B5F3C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57725"/>
            <a:ext cx="2095500" cy="495300"/>
          </a:xfrm>
          <a:prstGeom xmlns:a="http://schemas.openxmlformats.org/drawingml/2006/main" prst="roundRect">
            <a:avLst>
              <a:gd name="adj" fmla="val 1923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45C47"/>
            </a:solidFill>
            <a:prstDash val="solid"/>
          </a:ln>
        </p:spPr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852E1FF0-009A-4A31-90A6-D1D042A1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695825"/>
            <a:ext cx="2019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Review draft">
            <a:extLst xmlns:a="http://schemas.openxmlformats.org/drawingml/2006/main">
              <a:ext uri="{FF2B5EF4-FFF2-40B4-BE49-F238E27FC236}">
                <a16:creationId xmlns:a16="http://schemas.microsoft.com/office/drawing/2014/main" id="{F72038F6-2877-45BE-A13A-B788641C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8101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draft</a:t>
            </a:r>
          </a:p>
        </p:txBody>
      </p:sp>
      <p:sp>
        <p:nvSpPr>
          <p:cNvPr id="30" name="text-Focus 2 px / offset 2 px">
            <a:extLst xmlns:a="http://schemas.openxmlformats.org/drawingml/2006/main">
              <a:ext uri="{FF2B5EF4-FFF2-40B4-BE49-F238E27FC236}">
                <a16:creationId xmlns:a16="http://schemas.microsoft.com/office/drawing/2014/main" id="{A91B4AB1-0673-4B25-9600-BB1B8BD0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276850"/>
            <a:ext cx="2352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Focus 2 px / offset 2 px</a:t>
            </a:r>
          </a:p>
        </p:txBody>
      </p:sp>
      <p:sp>
        <p:nvSpPr>
          <p:cNvPr id="31" name="text-Targets are at least 44 ">
            <a:extLst xmlns:a="http://schemas.openxmlformats.org/drawingml/2006/main">
              <a:ext uri="{FF2B5EF4-FFF2-40B4-BE49-F238E27FC236}">
                <a16:creationId xmlns:a16="http://schemas.microsoft.com/office/drawing/2014/main" id="{D2EE3183-08CD-4977-B645-C935BF40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Targets are at least 44 px high. Flat surfaces are the default; overlays alone use 0 8px 24px rgba(32,42,37,.10). Input boundaries use Muted.</a:t>
            </a:r>
          </a:p>
        </p:txBody>
      </p:sp>
    </p:spTree>
    <p:extLst>
      <p:ext uri="{BB962C8B-B14F-4D97-AF65-F5344CB8AC3E}">
        <p14:creationId xmlns:p14="http://schemas.microsoft.com/office/powerpoint/2010/main" val="18783833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CA57AFD5-492A-4A09-B9A3-A59C319B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Icon and illustration di">
            <a:extLst xmlns:a="http://schemas.openxmlformats.org/drawingml/2006/main">
              <a:ext uri="{FF2B5EF4-FFF2-40B4-BE49-F238E27FC236}">
                <a16:creationId xmlns:a16="http://schemas.microsoft.com/office/drawing/2014/main" id="{7030FE50-C62C-4E72-8E19-2B9BB781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Icon and illustration direction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AA145D2-70CB-465A-9EB2-F312102C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48F76101-83D8-4779-AAC8-2D987F24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AEFF7C58-9098-44B1-90B5-A669EA90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308F0-1444-4236-83E4-10E645095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6f8fadb2c4a1b"/>
          <a:stretch xmlns:a="http://schemas.openxmlformats.org/drawingml/2006/main"/>
        </p:blipFill>
        <p:spPr>
          <a:xfrm xmlns:a="http://schemas.openxmlformats.org/drawingml/2006/main">
            <a:off x="609600" y="2051050"/>
            <a:ext cx="12496800" cy="4165600"/>
          </a:xfrm>
          <a:prstGeom xmlns:a="http://schemas.openxmlformats.org/drawingml/2006/main" prst="rect">
            <a:avLst/>
          </a:prstGeom>
        </p:spPr>
      </p:pic>
      <p:sp>
        <p:nvSpPr>
          <p:cNvPr id="7" name="text-Scout">
            <a:extLst xmlns:a="http://schemas.openxmlformats.org/drawingml/2006/main">
              <a:ext uri="{FF2B5EF4-FFF2-40B4-BE49-F238E27FC236}">
                <a16:creationId xmlns:a16="http://schemas.microsoft.com/office/drawing/2014/main" id="{ABBE8DF8-9D4D-40E7-BECD-302C3B4D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Scout</a:t>
            </a:r>
          </a:p>
        </p:txBody>
      </p:sp>
      <p:sp>
        <p:nvSpPr>
          <p:cNvPr id="8" name="text-Promoter">
            <a:extLst xmlns:a="http://schemas.openxmlformats.org/drawingml/2006/main">
              <a:ext uri="{FF2B5EF4-FFF2-40B4-BE49-F238E27FC236}">
                <a16:creationId xmlns:a16="http://schemas.microsoft.com/office/drawing/2014/main" id="{B61A761C-48DF-4B74-8E36-6EF5195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959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Promoter</a:t>
            </a:r>
          </a:p>
        </p:txBody>
      </p:sp>
      <p:sp>
        <p:nvSpPr>
          <p:cNvPr id="9" name="text-Sales">
            <a:extLst xmlns:a="http://schemas.openxmlformats.org/drawingml/2006/main">
              <a:ext uri="{FF2B5EF4-FFF2-40B4-BE49-F238E27FC236}">
                <a16:creationId xmlns:a16="http://schemas.microsoft.com/office/drawing/2014/main" id="{A8E55B26-A663-4552-9BB3-DD8C5CEB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8959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Sales</a:t>
            </a:r>
          </a:p>
        </p:txBody>
      </p:sp>
      <p:sp>
        <p:nvSpPr>
          <p:cNvPr id="10" name="text-Account&#10;Manager">
            <a:extLst xmlns:a="http://schemas.openxmlformats.org/drawingml/2006/main">
              <a:ext uri="{FF2B5EF4-FFF2-40B4-BE49-F238E27FC236}">
                <a16:creationId xmlns:a16="http://schemas.microsoft.com/office/drawing/2014/main" id="{C46FEE15-D552-4528-8E33-BD67704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959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Account</a:t>
            </a:r>
          </a:p>
          <a:p xmlns:a="http://schemas.openxmlformats.org/drawingml/2006/main">
            <a: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Manager</a:t>
            </a:r>
          </a:p>
        </p:txBody>
      </p:sp>
      <p:sp>
        <p:nvSpPr>
          <p:cNvPr id="11" name="text-Operations">
            <a:extLst xmlns:a="http://schemas.openxmlformats.org/drawingml/2006/main">
              <a:ext uri="{FF2B5EF4-FFF2-40B4-BE49-F238E27FC236}">
                <a16:creationId xmlns:a16="http://schemas.microsoft.com/office/drawing/2014/main" id="{F26A7DC8-EE2D-42E3-AED7-53BDFC08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959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Operations</a:t>
            </a:r>
          </a:p>
        </p:txBody>
      </p:sp>
      <p:sp>
        <p:nvSpPr>
          <p:cNvPr id="12" name="text-Finance">
            <a:extLst xmlns:a="http://schemas.openxmlformats.org/drawingml/2006/main">
              <a:ext uri="{FF2B5EF4-FFF2-40B4-BE49-F238E27FC236}">
                <a16:creationId xmlns:a16="http://schemas.microsoft.com/office/drawing/2014/main" id="{1662CD99-FF50-46BF-8ED2-460C5BCB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8959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Finance</a:t>
            </a:r>
          </a:p>
        </p:txBody>
      </p:sp>
      <p:sp>
        <p:nvSpPr>
          <p:cNvPr id="13" name="text-ILLUSTRATION DIRECTION S">
            <a:extLst xmlns:a="http://schemas.openxmlformats.org/drawingml/2006/main">
              <a:ext uri="{FF2B5EF4-FFF2-40B4-BE49-F238E27FC236}">
                <a16:creationId xmlns:a16="http://schemas.microsoft.com/office/drawing/2014/main" id="{A1486FA9-D956-4293-B1D2-CE0045E6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ILLUSTRATION DIRECTION STUDY</a:t>
            </a:r>
          </a:p>
        </p:txBody>
      </p:sp>
      <p:sp>
        <p:nvSpPr>
          <p:cNvPr id="14" name="text-Stable role silhouettes,">
            <a:extLst xmlns:a="http://schemas.openxmlformats.org/drawingml/2006/main">
              <a:ext uri="{FF2B5EF4-FFF2-40B4-BE49-F238E27FC236}">
                <a16:creationId xmlns:a16="http://schemas.microsoft.com/office/drawing/2014/main" id="{8ABC6222-E527-4078-92F4-B10FD26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Stable role silhouettes, forest outlines and restrained pastel fills. Use a 24 px outline icon system with 2 px strokes and rounded joins. Character artwork shown here is a direction study.</a:t>
            </a:r>
          </a:p>
        </p:txBody>
      </p:sp>
    </p:spTree>
    <p:extLst>
      <p:ext uri="{BB962C8B-B14F-4D97-AF65-F5344CB8AC3E}">
        <p14:creationId xmlns:p14="http://schemas.microsoft.com/office/powerpoint/2010/main" val="4597184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72578D56-A316-4EAD-9ABC-32960F62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One identity, six cowork">
            <a:extLst xmlns:a="http://schemas.openxmlformats.org/drawingml/2006/main">
              <a:ext uri="{FF2B5EF4-FFF2-40B4-BE49-F238E27FC236}">
                <a16:creationId xmlns:a16="http://schemas.microsoft.com/office/drawing/2014/main" id="{9A4A9274-3977-4402-A104-8B7DE7F9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One identity, six coworkers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29D177A-BA2A-4B02-A710-D57F7AF3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3AB1660A-1807-4918-9C66-4CB5B950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6">
            <a:extLst xmlns:a="http://schemas.openxmlformats.org/drawingml/2006/main">
              <a:ext uri="{FF2B5EF4-FFF2-40B4-BE49-F238E27FC236}">
                <a16:creationId xmlns:a16="http://schemas.microsoft.com/office/drawing/2014/main" id="{6B03CEA5-9434-47F2-8258-A045BC5A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7840A-C548-41DF-91A0-49A4E3B6D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c17b5b26e4eea">
            <a:extLst>
              <a:ext uri="{96DAC541-7B7A-43D3-8B79-37D633B846F1}">
                <asvg:svgBlip xmlns:asvg="http://schemas.microsoft.com/office/drawing/2016/SVG/main" r:embed="R6f089da490c64b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943100"/>
            <a:ext cx="4953000" cy="1317220"/>
          </a:xfrm>
          <a:prstGeom xmlns:a="http://schemas.openxmlformats.org/drawingml/2006/main" prst="rect">
            <a:avLst/>
          </a:prstGeom>
        </p:spPr>
      </p:pic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C7310561-EA7C-4814-AA23-EF60C37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B8CEB-9D68-41AF-9385-C52A2202E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a62c3638a43f4"/>
          <a:stretch xmlns:a="http://schemas.openxmlformats.org/drawingml/2006/main"/>
        </p:blipFill>
        <p:spPr>
          <a:xfrm xmlns:a="http://schemas.openxmlformats.org/drawingml/2006/main">
            <a:off x="3400425" y="4038600"/>
            <a:ext cx="6915150" cy="2305050"/>
          </a:xfrm>
          <a:prstGeom xmlns:a="http://schemas.openxmlformats.org/drawingml/2006/main" prst="rect">
            <a:avLst/>
          </a:prstGeom>
        </p:spPr>
      </p:pic>
      <p:sp>
        <p:nvSpPr>
          <p:cNvPr id="9" name="text-The logo owns the header">
            <a:extLst xmlns:a="http://schemas.openxmlformats.org/drawingml/2006/main">
              <a:ext uri="{FF2B5EF4-FFF2-40B4-BE49-F238E27FC236}">
                <a16:creationId xmlns:a16="http://schemas.microsoft.com/office/drawing/2014/main" id="{DF9E36BF-8288-45D4-87D2-1C63783E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634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The logo owns the header. Coworkers occupy the working area.</a:t>
            </a:r>
          </a:p>
        </p:txBody>
      </p:sp>
      <p:sp>
        <p:nvSpPr>
          <p:cNvPr id="10" name="text-Keep every illustration ">
            <a:extLst xmlns:a="http://schemas.openxmlformats.org/drawingml/2006/main">
              <a:ext uri="{FF2B5EF4-FFF2-40B4-BE49-F238E27FC236}">
                <a16:creationId xmlns:a16="http://schemas.microsoft.com/office/drawing/2014/main" id="{DA842320-3E40-490E-A4AA-9688F0C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Keep every illustration outside the logo’s x clear space. Characters never replace a band, sit in the seam, wear the logo, or obscure prices, sources and approval controls.</a:t>
            </a:r>
          </a:p>
        </p:txBody>
      </p:sp>
    </p:spTree>
    <p:extLst>
      <p:ext uri="{BB962C8B-B14F-4D97-AF65-F5344CB8AC3E}">
        <p14:creationId xmlns:p14="http://schemas.microsoft.com/office/powerpoint/2010/main" val="257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VISUAL SYSTEM">
            <a:extLst xmlns:a="http://schemas.openxmlformats.org/drawingml/2006/main">
              <a:ext uri="{FF2B5EF4-FFF2-40B4-BE49-F238E27FC236}">
                <a16:creationId xmlns:a16="http://schemas.microsoft.com/office/drawing/2014/main" id="{C4C132FF-CE14-40D1-AFC0-CEBFBCE2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VISUAL SYSTEM</a:t>
            </a:r>
          </a:p>
        </p:txBody>
      </p:sp>
      <p:sp>
        <p:nvSpPr>
          <p:cNvPr id="2" name="text-Motion follows meaningfu">
            <a:extLst xmlns:a="http://schemas.openxmlformats.org/drawingml/2006/main">
              <a:ext uri="{FF2B5EF4-FFF2-40B4-BE49-F238E27FC236}">
                <a16:creationId xmlns:a16="http://schemas.microsoft.com/office/drawing/2014/main" id="{AFAC11B2-DCA0-4A18-B94F-6EF91FF2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Motion follows meaningful work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A4DF896-93E9-49CB-82A3-16191B52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5E6F05CB-3FB8-4FB9-AA55-DD4BEA66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7">
            <a:extLst xmlns:a="http://schemas.openxmlformats.org/drawingml/2006/main">
              <a:ext uri="{FF2B5EF4-FFF2-40B4-BE49-F238E27FC236}">
                <a16:creationId xmlns:a16="http://schemas.microsoft.com/office/drawing/2014/main" id="{CF921C15-CA4C-4588-958B-CBB5F57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" name="text-01">
            <a:extLst xmlns:a="http://schemas.openxmlformats.org/drawingml/2006/main">
              <a:ext uri="{FF2B5EF4-FFF2-40B4-BE49-F238E27FC236}">
                <a16:creationId xmlns:a16="http://schemas.microsoft.com/office/drawing/2014/main" id="{CFBD96C1-3C72-4744-B700-F803E007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E3CDB147-84A5-425A-8D46-C14E6F14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8" name="text-Draft saved">
            <a:extLst xmlns:a="http://schemas.openxmlformats.org/drawingml/2006/main">
              <a:ext uri="{FF2B5EF4-FFF2-40B4-BE49-F238E27FC236}">
                <a16:creationId xmlns:a16="http://schemas.microsoft.com/office/drawing/2014/main" id="{813ABD34-CD41-4089-BE7B-FCAC4F8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Draft saved</a:t>
            </a:r>
          </a:p>
        </p:txBody>
      </p:sp>
      <p:sp>
        <p:nvSpPr>
          <p:cNvPr id="9" name="text-Scout prepared a brief.">
            <a:extLst xmlns:a="http://schemas.openxmlformats.org/drawingml/2006/main">
              <a:ext uri="{FF2B5EF4-FFF2-40B4-BE49-F238E27FC236}">
                <a16:creationId xmlns:a16="http://schemas.microsoft.com/office/drawing/2014/main" id="{67D03A8D-238D-4F65-9B4A-58FB8B8E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Scout prepared a brief.</a:t>
            </a:r>
          </a:p>
        </p:txBody>
      </p:sp>
      <p:sp>
        <p:nvSpPr>
          <p:cNvPr id="10" name="text-02">
            <a:extLst xmlns:a="http://schemas.openxmlformats.org/drawingml/2006/main">
              <a:ext uri="{FF2B5EF4-FFF2-40B4-BE49-F238E27FC236}">
                <a16:creationId xmlns:a16="http://schemas.microsoft.com/office/drawing/2014/main" id="{3770BDE9-0885-43D3-ADB2-401644F5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193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73BBF28-819F-4110-923C-B950351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432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2" name="text-Handoff recorded">
            <a:extLst xmlns:a="http://schemas.openxmlformats.org/drawingml/2006/main">
              <a:ext uri="{FF2B5EF4-FFF2-40B4-BE49-F238E27FC236}">
                <a16:creationId xmlns:a16="http://schemas.microsoft.com/office/drawing/2014/main" id="{4DC5A125-E520-4760-A45A-055A1512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Handoff recorded</a:t>
            </a:r>
          </a:p>
        </p:txBody>
      </p:sp>
      <p:sp>
        <p:nvSpPr>
          <p:cNvPr id="13" name="text-Scout shared it with Sal">
            <a:extLst xmlns:a="http://schemas.openxmlformats.org/drawingml/2006/main">
              <a:ext uri="{FF2B5EF4-FFF2-40B4-BE49-F238E27FC236}">
                <a16:creationId xmlns:a16="http://schemas.microsoft.com/office/drawing/2014/main" id="{45A4B1D6-0F6C-45C5-AB4B-674D4B19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000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Scout shared it with Sales.</a:t>
            </a:r>
          </a:p>
        </p:txBody>
      </p:sp>
      <p:sp>
        <p:nvSpPr>
          <p:cNvPr id="14" name="text-03">
            <a:extLst xmlns:a="http://schemas.openxmlformats.org/drawingml/2006/main">
              <a:ext uri="{FF2B5EF4-FFF2-40B4-BE49-F238E27FC236}">
                <a16:creationId xmlns:a16="http://schemas.microsoft.com/office/drawing/2014/main" id="{03FE341B-FC5D-4985-9ACC-64793C7D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193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B9951B7-5673-4654-BEBC-9DAB7D72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6" name="text-Review needed">
            <a:extLst xmlns:a="http://schemas.openxmlformats.org/drawingml/2006/main">
              <a:ext uri="{FF2B5EF4-FFF2-40B4-BE49-F238E27FC236}">
                <a16:creationId xmlns:a16="http://schemas.microsoft.com/office/drawing/2014/main" id="{AF503627-E587-4EBA-862B-4BAEF486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Review needed</a:t>
            </a:r>
          </a:p>
        </p:txBody>
      </p:sp>
      <p:sp>
        <p:nvSpPr>
          <p:cNvPr id="17" name="text-The owner has a clear ne">
            <a:extLst xmlns:a="http://schemas.openxmlformats.org/drawingml/2006/main">
              <a:ext uri="{FF2B5EF4-FFF2-40B4-BE49-F238E27FC236}">
                <a16:creationId xmlns:a16="http://schemas.microsoft.com/office/drawing/2014/main" id="{E9BF0D3C-ACA7-4E1A-B564-FFC98B08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The owner has a clear next action.</a:t>
            </a:r>
          </a:p>
        </p:txBody>
      </p:sp>
      <p:sp>
        <p:nvSpPr>
          <p:cNvPr id="18" name="text-160-240 ms">
            <a:extLst xmlns:a="http://schemas.openxmlformats.org/drawingml/2006/main">
              <a:ext uri="{FF2B5EF4-FFF2-40B4-BE49-F238E27FC236}">
                <a16:creationId xmlns:a16="http://schemas.microsoft.com/office/drawing/2014/main" id="{67116BC4-15FC-4887-BA45-F3224C40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0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0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160-240 ms</a:t>
            </a:r>
          </a:p>
        </p:txBody>
      </p:sp>
      <p:sp>
        <p:nvSpPr>
          <p:cNvPr id="19" name="text-At most two task-linked ">
            <a:extLst xmlns:a="http://schemas.openxmlformats.org/drawingml/2006/main">
              <a:ext uri="{FF2B5EF4-FFF2-40B4-BE49-F238E27FC236}">
                <a16:creationId xmlns:a16="http://schemas.microsoft.com/office/drawing/2014/main" id="{F7287639-132B-4012-922D-77138590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05450"/>
            <a:ext cx="701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At most two task-linked cursors.</a:t>
            </a:r>
          </a:p>
          <a:p xmlns:a="http://schemas.openxmlformats.org/drawingml/2006/main">
            <a:pPr algn="l">
              <a:def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Reduced motion uses static labeled focus and state updates.</a:t>
            </a:r>
          </a:p>
        </p:txBody>
      </p:sp>
      <p:sp>
        <p:nvSpPr>
          <p:cNvPr id="20" name="text-Default duration 200 ms;">
            <a:extLst xmlns:a="http://schemas.openxmlformats.org/drawingml/2006/main">
              <a:ext uri="{FF2B5EF4-FFF2-40B4-BE49-F238E27FC236}">
                <a16:creationId xmlns:a16="http://schemas.microsoft.com/office/drawing/2014/main" id="{517F37B7-3145-4BF2-94A4-21B1352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Default duration 200 ms; easing cubic-bezier(.2,0,0,1). Keep logo bands together. No idle typing, random cursor travel, looping bounce or simulated progress.</a:t>
            </a:r>
          </a:p>
        </p:txBody>
      </p:sp>
    </p:spTree>
    <p:extLst>
      <p:ext uri="{BB962C8B-B14F-4D97-AF65-F5344CB8AC3E}">
        <p14:creationId xmlns:p14="http://schemas.microsoft.com/office/powerpoint/2010/main" val="19794866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24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5C69CB1D-F564-4DAB-8D63-C8B60E8C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B8FBAE3C-D30C-4485-BD69-C498CBC4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Applications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AE7DAC5-E315-4A64-8BD0-2E0B6462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AA98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D425A82D-88EF-4BFA-A518-C16FF99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CC539977-30E5-458F-8F36-A72C06E4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DF0EB-EEE7-437E-AEB0-EF5583F6A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8bc71dd25429c">
            <a:extLst>
              <a:ext uri="{96DAC541-7B7A-43D3-8B79-37D633B846F1}">
                <asvg:svgBlip xmlns:asvg="http://schemas.microsoft.com/office/drawing/2016/SVG/main" r:embed="R1f9074c760f84f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2276475"/>
            <a:ext cx="10287000" cy="2735764"/>
          </a:xfrm>
          <a:prstGeom xmlns:a="http://schemas.openxmlformats.org/drawingml/2006/main" prst="rect">
            <a:avLst/>
          </a:prstGeom>
        </p:spPr>
      </p:pic>
      <p:sp>
        <p:nvSpPr>
          <p:cNvPr id="7" name="text-One system across the pl">
            <a:extLst xmlns:a="http://schemas.openxmlformats.org/drawingml/2006/main">
              <a:ext uri="{FF2B5EF4-FFF2-40B4-BE49-F238E27FC236}">
                <a16:creationId xmlns:a16="http://schemas.microsoft.com/office/drawing/2014/main" id="{9C467030-41D6-43C7-801A-C9BB1BF4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181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5F3EC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F5F3EC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F5F3EC"/>
                </a:solidFill>
                <a:latin typeface="DejaVu Serif"/>
                <a:ea typeface="DejaVu Serif"/>
                <a:cs typeface="DejaVu Serif"/>
              </a:rPr>
              <a:t>One system across the places work happens.</a:t>
            </a:r>
          </a:p>
        </p:txBody>
      </p:sp>
    </p:spTree>
    <p:extLst>
      <p:ext uri="{BB962C8B-B14F-4D97-AF65-F5344CB8AC3E}">
        <p14:creationId xmlns:p14="http://schemas.microsoft.com/office/powerpoint/2010/main" val="15279872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0ADBE7CF-703D-49B5-BA4D-18FFD4BF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Website header">
            <a:extLst xmlns:a="http://schemas.openxmlformats.org/drawingml/2006/main">
              <a:ext uri="{FF2B5EF4-FFF2-40B4-BE49-F238E27FC236}">
                <a16:creationId xmlns:a16="http://schemas.microsoft.com/office/drawing/2014/main" id="{26B2C056-0955-43CF-9F4C-6A349EB3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Website header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F0DD547-7E88-4193-9203-9A6BB504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2D5320F1-42B0-4E85-B44B-9A909B40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2E87CC49-D642-474A-A74A-B9CF15BC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53E9691C-9FE7-4319-8250-2CA378FD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2496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F149A-7BA9-4DF2-A2D7-8607D319C7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afca89ed6478d">
            <a:extLst>
              <a:ext uri="{96DAC541-7B7A-43D3-8B79-37D633B846F1}">
                <asvg:svgBlip xmlns:asvg="http://schemas.microsoft.com/office/drawing/2016/SVG/main" r:embed="R8b26263f723d4c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874" y="2286000"/>
            <a:ext cx="2381250" cy="633279"/>
          </a:xfrm>
          <a:prstGeom xmlns:a="http://schemas.openxmlformats.org/drawingml/2006/main" prst="rect">
            <a:avLst/>
          </a:prstGeom>
        </p:spPr>
      </p:pic>
      <p:sp>
        <p:nvSpPr>
          <p:cNvPr id="8" name="text-Product">
            <a:extLst xmlns:a="http://schemas.openxmlformats.org/drawingml/2006/main">
              <a:ext uri="{FF2B5EF4-FFF2-40B4-BE49-F238E27FC236}">
                <a16:creationId xmlns:a16="http://schemas.microsoft.com/office/drawing/2014/main" id="{FF6EC978-41C5-45A6-9784-CFF192DA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90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Product</a:t>
            </a:r>
          </a:p>
        </p:txBody>
      </p:sp>
      <p:sp>
        <p:nvSpPr>
          <p:cNvPr id="9" name="text-How it works">
            <a:extLst xmlns:a="http://schemas.openxmlformats.org/drawingml/2006/main">
              <a:ext uri="{FF2B5EF4-FFF2-40B4-BE49-F238E27FC236}">
                <a16:creationId xmlns:a16="http://schemas.microsoft.com/office/drawing/2014/main" id="{D152D90E-1B02-49B0-961D-8D1DFE74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9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How it works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8673F23C-2CC4-41FC-8144-BC54E8E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45745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Open workspace">
            <a:extLst xmlns:a="http://schemas.openxmlformats.org/drawingml/2006/main">
              <a:ext uri="{FF2B5EF4-FFF2-40B4-BE49-F238E27FC236}">
                <a16:creationId xmlns:a16="http://schemas.microsoft.com/office/drawing/2014/main" id="{10C0F4BD-B73A-476D-9A51-9C718093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5717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workspace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C2AED27-180C-4D74-919A-D720546B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3" name="text-A team behind your&#10;indep">
            <a:extLst xmlns:a="http://schemas.openxmlformats.org/drawingml/2006/main">
              <a:ext uri="{FF2B5EF4-FFF2-40B4-BE49-F238E27FC236}">
                <a16:creationId xmlns:a16="http://schemas.microsoft.com/office/drawing/2014/main" id="{F96245AE-D02B-4388-8D68-09A4395C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29025"/>
            <a:ext cx="94297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A team behind your</a:t>
            </a:r>
          </a:p>
          <a:p xmlns:a="http://schemas.openxmlformats.org/drawingml/2006/main">
            <a:pPr algn="l">
              <a:def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5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independent business.</a:t>
            </a:r>
          </a:p>
        </p:txBody>
      </p:sp>
      <p:sp>
        <p:nvSpPr>
          <p:cNvPr id="14" name="text-Header height 72 px in t">
            <a:extLst xmlns:a="http://schemas.openxmlformats.org/drawingml/2006/main">
              <a:ext uri="{FF2B5EF4-FFF2-40B4-BE49-F238E27FC236}">
                <a16:creationId xmlns:a16="http://schemas.microsoft.com/office/drawing/2014/main" id="{0C25F305-1AE4-459B-9982-BB7BFC5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Header height 72 px in the product. Primary logo canvas ≥200 px wide. Keep the brand at the left and a single dominant action at the right. Example shown at presentation scale.</a:t>
            </a:r>
          </a:p>
        </p:txBody>
      </p:sp>
    </p:spTree>
    <p:extLst>
      <p:ext uri="{BB962C8B-B14F-4D97-AF65-F5344CB8AC3E}">
        <p14:creationId xmlns:p14="http://schemas.microsoft.com/office/powerpoint/2010/main" val="8552410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4EF2AB69-5EC8-459A-B0C8-005A4588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Sidebar, favicon and app">
            <a:extLst xmlns:a="http://schemas.openxmlformats.org/drawingml/2006/main">
              <a:ext uri="{FF2B5EF4-FFF2-40B4-BE49-F238E27FC236}">
                <a16:creationId xmlns:a16="http://schemas.microsoft.com/office/drawing/2014/main" id="{76A93F53-500D-4D3F-9C69-D2B025B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Sidebar, favicon and app icon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091968D-0C4D-4B41-8151-2859EC21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37C5085D-3681-4068-B092-56A0A934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6921E5F6-52E4-40B3-8DE7-8AB67F85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0535CB07-4CCD-44A3-8AAC-345C4D4C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667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62FB9-E70C-4630-A2B4-E6296734F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423095cdd48ba">
            <a:extLst>
              <a:ext uri="{96DAC541-7B7A-43D3-8B79-37D633B846F1}">
                <asvg:svgBlip xmlns:asvg="http://schemas.microsoft.com/office/drawing/2016/SVG/main" r:embed="R6f2d1498d68243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9355" y="2105025"/>
            <a:ext cx="2476500" cy="658610"/>
          </a:xfrm>
          <a:prstGeom xmlns:a="http://schemas.openxmlformats.org/drawingml/2006/main" prst="rect">
            <a:avLst/>
          </a:prstGeom>
        </p:spPr>
      </p:pic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2B6088F-4272-4CD0-9E26-578F9376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266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Workspace">
            <a:extLst xmlns:a="http://schemas.openxmlformats.org/drawingml/2006/main">
              <a:ext uri="{FF2B5EF4-FFF2-40B4-BE49-F238E27FC236}">
                <a16:creationId xmlns:a16="http://schemas.microsoft.com/office/drawing/2014/main" id="{9C34981E-0851-48D5-A1A5-0DC5A33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Workspace</a:t>
            </a:r>
          </a:p>
        </p:txBody>
      </p:sp>
      <p:sp>
        <p:nvSpPr>
          <p:cNvPr id="10" name="text-Opportunities">
            <a:extLst xmlns:a="http://schemas.openxmlformats.org/drawingml/2006/main">
              <a:ext uri="{FF2B5EF4-FFF2-40B4-BE49-F238E27FC236}">
                <a16:creationId xmlns:a16="http://schemas.microsoft.com/office/drawing/2014/main" id="{3EBB8CF9-E96D-4A6C-9150-5D9917DB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242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Opportunities</a:t>
            </a:r>
          </a:p>
        </p:txBody>
      </p:sp>
      <p:sp>
        <p:nvSpPr>
          <p:cNvPr id="11" name="text-Clients">
            <a:extLst xmlns:a="http://schemas.openxmlformats.org/drawingml/2006/main">
              <a:ext uri="{FF2B5EF4-FFF2-40B4-BE49-F238E27FC236}">
                <a16:creationId xmlns:a16="http://schemas.microsoft.com/office/drawing/2014/main" id="{2EFCA6E2-9F5A-4541-A801-3AC848D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576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Clients</a:t>
            </a:r>
          </a:p>
        </p:txBody>
      </p:sp>
      <p:sp>
        <p:nvSpPr>
          <p:cNvPr id="12" name="text-Team">
            <a:extLst xmlns:a="http://schemas.openxmlformats.org/drawingml/2006/main">
              <a:ext uri="{FF2B5EF4-FFF2-40B4-BE49-F238E27FC236}">
                <a16:creationId xmlns:a16="http://schemas.microsoft.com/office/drawing/2014/main" id="{A9AFD4DD-4928-4133-BB86-D825322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Team</a:t>
            </a:r>
          </a:p>
        </p:txBody>
      </p:sp>
      <p:sp>
        <p:nvSpPr>
          <p:cNvPr id="13" name="text-Money">
            <a:extLst xmlns:a="http://schemas.openxmlformats.org/drawingml/2006/main">
              <a:ext uri="{FF2B5EF4-FFF2-40B4-BE49-F238E27FC236}">
                <a16:creationId xmlns:a16="http://schemas.microsoft.com/office/drawing/2014/main" id="{03DF7CBA-81B6-4D48-B3D3-0A82A2D2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244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Money</a:t>
            </a:r>
          </a:p>
        </p:txBody>
      </p:sp>
      <p:sp>
        <p:nvSpPr>
          <p:cNvPr id="14" name="text-Compact identity">
            <a:extLst xmlns:a="http://schemas.openxmlformats.org/drawingml/2006/main">
              <a:ext uri="{FF2B5EF4-FFF2-40B4-BE49-F238E27FC236}">
                <a16:creationId xmlns:a16="http://schemas.microsoft.com/office/drawing/2014/main" id="{0118B33C-8BE6-44EB-982A-5729D877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478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9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Compact identity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35926-5F3F-4BA7-A5D1-3F813C43E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bea8de8d54973"/>
          <a:stretch xmlns:a="http://schemas.openxmlformats.org/drawingml/2006/main"/>
        </p:blipFill>
        <p:spPr>
          <a:xfrm xmlns:a="http://schemas.openxmlformats.org/drawingml/2006/main">
            <a:off x="4476750" y="31051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6" name="text-16 px">
            <a:extLst xmlns:a="http://schemas.openxmlformats.org/drawingml/2006/main">
              <a:ext uri="{FF2B5EF4-FFF2-40B4-BE49-F238E27FC236}">
                <a16:creationId xmlns:a16="http://schemas.microsoft.com/office/drawing/2014/main" id="{C925DFF9-C766-4C73-99C8-0AB8B46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16 px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D6B6D-2625-45C0-81BE-AE748EFF9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f96876531486b"/>
          <a:stretch xmlns:a="http://schemas.openxmlformats.org/drawingml/2006/main"/>
        </p:blipFill>
        <p:spPr>
          <a:xfrm xmlns:a="http://schemas.openxmlformats.org/drawingml/2006/main">
            <a:off x="5619750" y="3105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text-24 px">
            <a:extLst xmlns:a="http://schemas.openxmlformats.org/drawingml/2006/main">
              <a:ext uri="{FF2B5EF4-FFF2-40B4-BE49-F238E27FC236}">
                <a16:creationId xmlns:a16="http://schemas.microsoft.com/office/drawing/2014/main" id="{CC23B106-03DF-487A-8247-B4F6B081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24 px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F2C39-FA30-4D0F-B190-C2A8CB30F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9d04bb8944e75"/>
          <a:stretch xmlns:a="http://schemas.openxmlformats.org/drawingml/2006/main"/>
        </p:blipFill>
        <p:spPr>
          <a:xfrm xmlns:a="http://schemas.openxmlformats.org/drawingml/2006/main">
            <a:off x="6762750" y="31051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0" name="text-32 px">
            <a:extLst xmlns:a="http://schemas.openxmlformats.org/drawingml/2006/main">
              <a:ext uri="{FF2B5EF4-FFF2-40B4-BE49-F238E27FC236}">
                <a16:creationId xmlns:a16="http://schemas.microsoft.com/office/drawing/2014/main" id="{5C669DF2-5DCE-40B9-A1EC-77B65E4A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32 px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D2624-A703-4D62-B03A-ACDD4229BD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005f6156e42a3"/>
          <a:stretch xmlns:a="http://schemas.openxmlformats.org/drawingml/2006/main"/>
        </p:blipFill>
        <p:spPr>
          <a:xfrm xmlns:a="http://schemas.openxmlformats.org/drawingml/2006/main">
            <a:off x="9753600" y="2390775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22" name="text-App tile">
            <a:extLst xmlns:a="http://schemas.openxmlformats.org/drawingml/2006/main">
              <a:ext uri="{FF2B5EF4-FFF2-40B4-BE49-F238E27FC236}">
                <a16:creationId xmlns:a16="http://schemas.microsoft.com/office/drawing/2014/main" id="{0BB0C920-6000-4A54-BFBD-083514A8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05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App tile</a:t>
            </a:r>
          </a:p>
        </p:txBody>
      </p:sp>
      <p:sp>
        <p:nvSpPr>
          <p:cNvPr id="23" name="text-Ivory on Forest&#10;Radius 1">
            <a:extLst xmlns:a="http://schemas.openxmlformats.org/drawingml/2006/main">
              <a:ext uri="{FF2B5EF4-FFF2-40B4-BE49-F238E27FC236}">
                <a16:creationId xmlns:a16="http://schemas.microsoft.com/office/drawing/2014/main" id="{8EA15FB1-0E45-482A-BB07-D4015D76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05375"/>
            <a:ext cx="809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Ivory on Forest</a:t>
            </a:r>
          </a:p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Radius 18.75% of tile</a:t>
            </a:r>
          </a:p>
          <a:p xmlns:a="http://schemas.openxmlformats.org/drawingml/2006/main">
            <a:pPr algn="l">
              <a:def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Visible symbol width 65.625%</a:t>
            </a:r>
          </a:p>
        </p:txBody>
      </p:sp>
      <p:sp>
        <p:nvSpPr>
          <p:cNvPr id="24" name="text-Desktop sidebar is 224 p">
            <a:extLst xmlns:a="http://schemas.openxmlformats.org/drawingml/2006/main">
              <a:ext uri="{FF2B5EF4-FFF2-40B4-BE49-F238E27FC236}">
                <a16:creationId xmlns:a16="http://schemas.microsoft.com/office/drawing/2014/main" id="{F0F9746E-D1CC-4979-92C0-7111FCF9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Desktop sidebar is 224 px; example is enlarged. Use supplied icon tiles. App icon padding is built in; apply platform masks without changing the mark.</a:t>
            </a:r>
          </a:p>
        </p:txBody>
      </p:sp>
    </p:spTree>
    <p:extLst>
      <p:ext uri="{BB962C8B-B14F-4D97-AF65-F5344CB8AC3E}">
        <p14:creationId xmlns:p14="http://schemas.microsoft.com/office/powerpoint/2010/main" val="46644067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84679870-80A2-4BCD-96B0-A80468EA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Home briefing">
            <a:extLst xmlns:a="http://schemas.openxmlformats.org/drawingml/2006/main">
              <a:ext uri="{FF2B5EF4-FFF2-40B4-BE49-F238E27FC236}">
                <a16:creationId xmlns:a16="http://schemas.microsoft.com/office/drawing/2014/main" id="{3E87624F-9E50-47B7-B8BA-591CB4B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Home briefing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E3906F4-8CC8-4ECC-B490-425894FC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20C9FE7E-CA84-4D56-8FCE-748257D5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1">
            <a:extLst xmlns:a="http://schemas.openxmlformats.org/drawingml/2006/main">
              <a:ext uri="{FF2B5EF4-FFF2-40B4-BE49-F238E27FC236}">
                <a16:creationId xmlns:a16="http://schemas.microsoft.com/office/drawing/2014/main" id="{B5828B71-AD62-4058-ABDD-5A654DAC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00075DC6-3E2C-4B48-A570-8CD509DB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24968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5F3EC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303CDF9-341A-436F-A318-8FD38BE4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943947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6EE00-BAF2-4E79-918B-47A1A51000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fcc6ee0914bf2">
            <a:extLst>
              <a:ext uri="{96DAC541-7B7A-43D3-8B79-37D633B846F1}">
                <asvg:svgBlip xmlns:asvg="http://schemas.microsoft.com/office/drawing/2016/SVG/main" r:embed="Rdb402c5808f84a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682" y="1953683"/>
            <a:ext cx="1735667" cy="461590"/>
          </a:xfrm>
          <a:prstGeom xmlns:a="http://schemas.openxmlformats.org/drawingml/2006/main" prst="rect">
            <a:avLst/>
          </a:prstGeom>
        </p:spPr>
      </p:pic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11F38B88-B8CC-4C1E-BFFC-C8C12ED9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53" y="2890943"/>
            <a:ext cx="1666240" cy="347133"/>
          </a:xfrm>
          <a:prstGeom xmlns:a="http://schemas.openxmlformats.org/drawingml/2006/main" prst="roundRect">
            <a:avLst>
              <a:gd name="adj" fmla="val 16463"/>
            </a:avLst>
          </a:prstGeom>
          <a:solidFill xmlns:a="http://schemas.openxmlformats.org/drawingml/2006/main">
            <a:srgbClr val="E5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Workspace">
            <a:extLst xmlns:a="http://schemas.openxmlformats.org/drawingml/2006/main">
              <a:ext uri="{FF2B5EF4-FFF2-40B4-BE49-F238E27FC236}">
                <a16:creationId xmlns:a16="http://schemas.microsoft.com/office/drawing/2014/main" id="{621FBB92-1004-4EA9-B602-24E7F0D7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2977727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093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Workspace</a:t>
            </a:r>
          </a:p>
        </p:txBody>
      </p:sp>
      <p:sp>
        <p:nvSpPr>
          <p:cNvPr id="11" name="text-Opportunities">
            <a:extLst xmlns:a="http://schemas.openxmlformats.org/drawingml/2006/main">
              <a:ext uri="{FF2B5EF4-FFF2-40B4-BE49-F238E27FC236}">
                <a16:creationId xmlns:a16="http://schemas.microsoft.com/office/drawing/2014/main" id="{ACA604A6-1F2B-4804-9471-E3DD3AE1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3429000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Opportunities</a:t>
            </a:r>
          </a:p>
        </p:txBody>
      </p:sp>
      <p:sp>
        <p:nvSpPr>
          <p:cNvPr id="12" name="text-Clients">
            <a:extLst xmlns:a="http://schemas.openxmlformats.org/drawingml/2006/main">
              <a:ext uri="{FF2B5EF4-FFF2-40B4-BE49-F238E27FC236}">
                <a16:creationId xmlns:a16="http://schemas.microsoft.com/office/drawing/2014/main" id="{99187C3B-68F3-46F7-89D8-C211E631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3880273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Clients</a:t>
            </a:r>
          </a:p>
        </p:txBody>
      </p:sp>
      <p:sp>
        <p:nvSpPr>
          <p:cNvPr id="13" name="text-Team">
            <a:extLst xmlns:a="http://schemas.openxmlformats.org/drawingml/2006/main">
              <a:ext uri="{FF2B5EF4-FFF2-40B4-BE49-F238E27FC236}">
                <a16:creationId xmlns:a16="http://schemas.microsoft.com/office/drawing/2014/main" id="{3B6ACCF2-CCC0-41DB-AE9D-A03CB0C1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4331547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Team</a:t>
            </a:r>
          </a:p>
        </p:txBody>
      </p:sp>
      <p:sp>
        <p:nvSpPr>
          <p:cNvPr id="14" name="text-Money">
            <a:extLst xmlns:a="http://schemas.openxmlformats.org/drawingml/2006/main">
              <a:ext uri="{FF2B5EF4-FFF2-40B4-BE49-F238E27FC236}">
                <a16:creationId xmlns:a16="http://schemas.microsoft.com/office/drawing/2014/main" id="{7D869CC7-8AE5-4BCD-81B6-E24187C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4782820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Money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1DF7046-55F5-49F0-B7B1-898430D9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547" y="1866900"/>
            <a:ext cx="0" cy="455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6" name="text-NOOR STUDIO">
            <a:extLst xmlns:a="http://schemas.openxmlformats.org/drawingml/2006/main">
              <a:ext uri="{FF2B5EF4-FFF2-40B4-BE49-F238E27FC236}">
                <a16:creationId xmlns:a16="http://schemas.microsoft.com/office/drawing/2014/main" id="{3E0EF739-145A-4448-8102-27F920C0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2075180"/>
            <a:ext cx="347133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NOOR STUDIO</a:t>
            </a:r>
          </a:p>
        </p:txBody>
      </p:sp>
      <p:sp>
        <p:nvSpPr>
          <p:cNvPr id="17" name="text-Example / Sample data">
            <a:extLst xmlns:a="http://schemas.openxmlformats.org/drawingml/2006/main">
              <a:ext uri="{FF2B5EF4-FFF2-40B4-BE49-F238E27FC236}">
                <a16:creationId xmlns:a16="http://schemas.microsoft.com/office/drawing/2014/main" id="{F3548CCF-ADC4-4EFE-A576-B548FBD4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983" y="2075180"/>
            <a:ext cx="269028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Example / Sample data</a:t>
            </a:r>
          </a:p>
        </p:txBody>
      </p:sp>
      <p:sp>
        <p:nvSpPr>
          <p:cNvPr id="18" name="text-Good morning, Noor">
            <a:extLst xmlns:a="http://schemas.openxmlformats.org/drawingml/2006/main">
              <a:ext uri="{FF2B5EF4-FFF2-40B4-BE49-F238E27FC236}">
                <a16:creationId xmlns:a16="http://schemas.microsoft.com/office/drawing/2014/main" id="{FC1484BB-2BCC-4E0D-9B96-F89FC09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2647950"/>
            <a:ext cx="7984067" cy="564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7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007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007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Good morning, Noor</a:t>
            </a:r>
          </a:p>
        </p:txBody>
      </p:sp>
      <p:sp>
        <p:nvSpPr>
          <p:cNvPr id="19" name="text-Your team has two drafts">
            <a:extLst xmlns:a="http://schemas.openxmlformats.org/drawingml/2006/main">
              <a:ext uri="{FF2B5EF4-FFF2-40B4-BE49-F238E27FC236}">
                <a16:creationId xmlns:a16="http://schemas.microsoft.com/office/drawing/2014/main" id="{50CA14D6-4865-4559-AE01-09731C8F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3255433"/>
            <a:ext cx="7984067" cy="347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Your team has two drafts ready for review.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FEF249E0-FC59-4331-A70B-7E07B174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3810847"/>
            <a:ext cx="6248400" cy="1683597"/>
          </a:xfrm>
          <a:prstGeom xmlns:a="http://schemas.openxmlformats.org/drawingml/2006/main" prst="roundRect">
            <a:avLst>
              <a:gd name="adj" fmla="val 6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21" name="text-TODAY’S FOCUS">
            <a:extLst xmlns:a="http://schemas.openxmlformats.org/drawingml/2006/main">
              <a:ext uri="{FF2B5EF4-FFF2-40B4-BE49-F238E27FC236}">
                <a16:creationId xmlns:a16="http://schemas.microsoft.com/office/drawing/2014/main" id="{C3220008-E953-439D-9FCF-7B975FC7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533" y="3984413"/>
            <a:ext cx="433916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TODAY’S FOCUS</a:t>
            </a:r>
          </a:p>
        </p:txBody>
      </p:sp>
      <p:sp>
        <p:nvSpPr>
          <p:cNvPr id="22" name="text-A new opportunity&#10;worth ">
            <a:extLst xmlns:a="http://schemas.openxmlformats.org/drawingml/2006/main">
              <a:ext uri="{FF2B5EF4-FFF2-40B4-BE49-F238E27FC236}">
                <a16:creationId xmlns:a16="http://schemas.microsoft.com/office/drawing/2014/main" id="{19768F26-874D-4262-AE88-1E430C8B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533" y="4305512"/>
            <a:ext cx="5727700" cy="902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87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187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187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A new opportunity</a:t>
            </a:r>
          </a:p>
          <a:p xmlns:a="http://schemas.openxmlformats.org/drawingml/2006/main">
            <a:pPr algn="l">
              <a:defRPr sz="2187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187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worth a closer look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9D3DAB6B-EE57-4B1F-BC40-F471EBEA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933" y="3810847"/>
            <a:ext cx="3124200" cy="1683597"/>
          </a:xfrm>
          <a:prstGeom xmlns:a="http://schemas.openxmlformats.org/drawingml/2006/main" prst="roundRect">
            <a:avLst>
              <a:gd name="adj" fmla="val 6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24" name="text-Needs your approval">
            <a:extLst xmlns:a="http://schemas.openxmlformats.org/drawingml/2006/main">
              <a:ext uri="{FF2B5EF4-FFF2-40B4-BE49-F238E27FC236}">
                <a16:creationId xmlns:a16="http://schemas.microsoft.com/office/drawing/2014/main" id="{602B7BAF-B1D9-4243-8D07-D4870950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213" y="3993092"/>
            <a:ext cx="2742353" cy="347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35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35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435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Needs your approval</a:t>
            </a:r>
          </a:p>
        </p:txBody>
      </p:sp>
      <p:sp>
        <p:nvSpPr>
          <p:cNvPr id="25" name="text-Proposal draft v3&#10;2 asse">
            <a:extLst xmlns:a="http://schemas.openxmlformats.org/drawingml/2006/main">
              <a:ext uri="{FF2B5EF4-FFF2-40B4-BE49-F238E27FC236}">
                <a16:creationId xmlns:a16="http://schemas.microsoft.com/office/drawing/2014/main" id="{333A729F-D5E6-41FE-A343-E8577B98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213" y="4461722"/>
            <a:ext cx="2655570" cy="564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Proposal draft v3</a:t>
            </a:r>
          </a:p>
          <a:p xmlns:a="http://schemas.openxmlformats.org/drawingml/2006/main">
            <a:pPr algn="l">
              <a:def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2 assets / USD 450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16EE3854-D979-4CCD-B5FB-AB067C02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213" y="5060527"/>
            <a:ext cx="270764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Review proposal">
            <a:extLst xmlns:a="http://schemas.openxmlformats.org/drawingml/2006/main">
              <a:ext uri="{FF2B5EF4-FFF2-40B4-BE49-F238E27FC236}">
                <a16:creationId xmlns:a16="http://schemas.microsoft.com/office/drawing/2014/main" id="{F1A7A3AD-5037-47EC-B97F-33E023A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563" y="5174827"/>
            <a:ext cx="244094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proposal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2FD52-C3D0-4338-80D3-670F496A5E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c917200b240c6"/>
          <a:stretch xmlns:a="http://schemas.openxmlformats.org/drawingml/2006/main"/>
        </p:blipFill>
        <p:spPr>
          <a:xfrm xmlns:a="http://schemas.openxmlformats.org/drawingml/2006/main">
            <a:off x="6562937" y="5529157"/>
            <a:ext cx="2082800" cy="694267"/>
          </a:xfrm>
          <a:prstGeom xmlns:a="http://schemas.openxmlformats.org/drawingml/2006/main" prst="rect">
            <a:avLst/>
          </a:prstGeom>
        </p:spPr>
      </p:pic>
      <p:sp>
        <p:nvSpPr>
          <p:cNvPr id="29" name="text-Application study: serif">
            <a:extLst xmlns:a="http://schemas.openxmlformats.org/drawingml/2006/main">
              <a:ext uri="{FF2B5EF4-FFF2-40B4-BE49-F238E27FC236}">
                <a16:creationId xmlns:a16="http://schemas.microsoft.com/office/drawing/2014/main" id="{9F1FC0F4-88C1-42AF-8874-C1E80F1C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 study: serif greeting, quiet ivory canvas, useful artifacts, visible owner decision and a reserved coworker area. Characters remain secondary to the work.</a:t>
            </a:r>
          </a:p>
        </p:txBody>
      </p:sp>
    </p:spTree>
    <p:extLst>
      <p:ext uri="{BB962C8B-B14F-4D97-AF65-F5344CB8AC3E}">
        <p14:creationId xmlns:p14="http://schemas.microsoft.com/office/powerpoint/2010/main" val="15865318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814886A7-3C1C-4016-A924-04FA0920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Team Overview">
            <a:extLst xmlns:a="http://schemas.openxmlformats.org/drawingml/2006/main">
              <a:ext uri="{FF2B5EF4-FFF2-40B4-BE49-F238E27FC236}">
                <a16:creationId xmlns:a16="http://schemas.microsoft.com/office/drawing/2014/main" id="{1090AA46-49E4-49F7-9694-724261A9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Team Overview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A60E69E-7B3D-4A0D-B05C-705C8ADD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13F2FCC3-D4C9-4E8A-810D-C3E66B2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2">
            <a:extLst xmlns:a="http://schemas.openxmlformats.org/drawingml/2006/main">
              <a:ext uri="{FF2B5EF4-FFF2-40B4-BE49-F238E27FC236}">
                <a16:creationId xmlns:a16="http://schemas.microsoft.com/office/drawing/2014/main" id="{3C4F37FE-2C13-4B65-BD7C-54996040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5F9BC3A6-313D-4036-A64F-0641479B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24968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5F3EC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B9D337A-57BF-46A6-A7BD-5893E650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943947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00419-0542-4F60-898B-96DD69616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2b96475a74b29">
            <a:extLst>
              <a:ext uri="{96DAC541-7B7A-43D3-8B79-37D633B846F1}">
                <asvg:svgBlip xmlns:asvg="http://schemas.microsoft.com/office/drawing/2016/SVG/main" r:embed="R303a04d8c32341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682" y="1953683"/>
            <a:ext cx="1735667" cy="461590"/>
          </a:xfrm>
          <a:prstGeom xmlns:a="http://schemas.openxmlformats.org/drawingml/2006/main" prst="rect">
            <a:avLst/>
          </a:prstGeom>
        </p:spPr>
      </p:pic>
      <p:sp>
        <p:nvSpPr>
          <p:cNvPr id="9" name="text-Workspace">
            <a:extLst xmlns:a="http://schemas.openxmlformats.org/drawingml/2006/main">
              <a:ext uri="{FF2B5EF4-FFF2-40B4-BE49-F238E27FC236}">
                <a16:creationId xmlns:a16="http://schemas.microsoft.com/office/drawing/2014/main" id="{96C7A4C1-A9B7-496E-8830-3AE32CF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2977727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Workspace</a:t>
            </a:r>
          </a:p>
        </p:txBody>
      </p:sp>
      <p:sp>
        <p:nvSpPr>
          <p:cNvPr id="10" name="text-Opportunities">
            <a:extLst xmlns:a="http://schemas.openxmlformats.org/drawingml/2006/main">
              <a:ext uri="{FF2B5EF4-FFF2-40B4-BE49-F238E27FC236}">
                <a16:creationId xmlns:a16="http://schemas.microsoft.com/office/drawing/2014/main" id="{D410C29E-D55A-4436-8362-009D365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3429000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Opportunities</a:t>
            </a:r>
          </a:p>
        </p:txBody>
      </p:sp>
      <p:sp>
        <p:nvSpPr>
          <p:cNvPr id="11" name="text-Clients">
            <a:extLst xmlns:a="http://schemas.openxmlformats.org/drawingml/2006/main">
              <a:ext uri="{FF2B5EF4-FFF2-40B4-BE49-F238E27FC236}">
                <a16:creationId xmlns:a16="http://schemas.microsoft.com/office/drawing/2014/main" id="{DE73060A-EE3C-4DBD-9087-363B75CD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3880273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Clients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49AFA31F-FBD2-478B-8BA2-2D901DC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53" y="4244763"/>
            <a:ext cx="1666240" cy="347133"/>
          </a:xfrm>
          <a:prstGeom xmlns:a="http://schemas.openxmlformats.org/drawingml/2006/main" prst="roundRect">
            <a:avLst>
              <a:gd name="adj" fmla="val 16463"/>
            </a:avLst>
          </a:prstGeom>
          <a:solidFill xmlns:a="http://schemas.openxmlformats.org/drawingml/2006/main">
            <a:srgbClr val="E5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eam">
            <a:extLst xmlns:a="http://schemas.openxmlformats.org/drawingml/2006/main">
              <a:ext uri="{FF2B5EF4-FFF2-40B4-BE49-F238E27FC236}">
                <a16:creationId xmlns:a16="http://schemas.microsoft.com/office/drawing/2014/main" id="{C57B8584-4EE0-4D31-9533-C516E65A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4331547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1">
                <a:solidFill>
                  <a:srgbClr val="245C47"/>
                </a:solidFill>
                <a:latin typeface="DejaVu Sans"/>
                <a:ea typeface="DejaVu Sans"/>
                <a:cs typeface="DejaVu Sans"/>
              </a:defRPr>
            </a:pPr>
            <a:r>
              <a:rPr sz="1093" b="1">
                <a:solidFill>
                  <a:srgbClr val="245C47"/>
                </a:solidFill>
                <a:latin typeface="DejaVu Sans"/>
                <a:ea typeface="DejaVu Sans"/>
                <a:cs typeface="DejaVu Sans"/>
              </a:rPr>
              <a:t>Team</a:t>
            </a:r>
          </a:p>
        </p:txBody>
      </p:sp>
      <p:sp>
        <p:nvSpPr>
          <p:cNvPr id="14" name="text-Money">
            <a:extLst xmlns:a="http://schemas.openxmlformats.org/drawingml/2006/main">
              <a:ext uri="{FF2B5EF4-FFF2-40B4-BE49-F238E27FC236}">
                <a16:creationId xmlns:a16="http://schemas.microsoft.com/office/drawing/2014/main" id="{B46204FE-149D-47CA-97FF-EE23D5FE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7" y="4782820"/>
            <a:ext cx="1510030" cy="242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93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Money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814AFB2-0A09-429F-9BF9-391BB3E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547" y="1866900"/>
            <a:ext cx="0" cy="455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6" name="text-NOOR STUDIO">
            <a:extLst xmlns:a="http://schemas.openxmlformats.org/drawingml/2006/main">
              <a:ext uri="{FF2B5EF4-FFF2-40B4-BE49-F238E27FC236}">
                <a16:creationId xmlns:a16="http://schemas.microsoft.com/office/drawing/2014/main" id="{8975D25A-FF63-4BF8-9650-0CF10D6B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2075180"/>
            <a:ext cx="347133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NOOR STUDIO</a:t>
            </a:r>
          </a:p>
        </p:txBody>
      </p:sp>
      <p:sp>
        <p:nvSpPr>
          <p:cNvPr id="17" name="text-Example / Sample data">
            <a:extLst xmlns:a="http://schemas.openxmlformats.org/drawingml/2006/main">
              <a:ext uri="{FF2B5EF4-FFF2-40B4-BE49-F238E27FC236}">
                <a16:creationId xmlns:a16="http://schemas.microsoft.com/office/drawing/2014/main" id="{381FF83D-F7A8-44BB-85C0-8BF7E00B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983" y="2075180"/>
            <a:ext cx="269028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Example / Sample data</a:t>
            </a:r>
          </a:p>
        </p:txBody>
      </p:sp>
      <p:sp>
        <p:nvSpPr>
          <p:cNvPr id="18" name="text-Your team, at work">
            <a:extLst xmlns:a="http://schemas.openxmlformats.org/drawingml/2006/main">
              <a:ext uri="{FF2B5EF4-FFF2-40B4-BE49-F238E27FC236}">
                <a16:creationId xmlns:a16="http://schemas.microsoft.com/office/drawing/2014/main" id="{23167316-72BE-4FB6-B76D-E8FEB82C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2630593"/>
            <a:ext cx="8678333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7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007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007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Your team, at work</a:t>
            </a:r>
          </a:p>
        </p:txBody>
      </p:sp>
      <p:sp>
        <p:nvSpPr>
          <p:cNvPr id="19" name="text-Six specialists supporti">
            <a:extLst xmlns:a="http://schemas.openxmlformats.org/drawingml/2006/main">
              <a:ext uri="{FF2B5EF4-FFF2-40B4-BE49-F238E27FC236}">
                <a16:creationId xmlns:a16="http://schemas.microsoft.com/office/drawing/2014/main" id="{FB77A15A-3DB0-4098-9AA3-4FECEF0E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3186007"/>
            <a:ext cx="8678333" cy="347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62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Six specialists supporting your business.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90197EEC-0C9D-4807-839E-9EA5F49D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3680672"/>
            <a:ext cx="3037417" cy="1232323"/>
          </a:xfrm>
          <a:prstGeom xmlns:a="http://schemas.openxmlformats.org/drawingml/2006/main" prst="roundRect">
            <a:avLst>
              <a:gd name="adj" fmla="val 927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7B12A-1EB1-44D0-AC82-77047A4277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2022df00943f0"/>
          <a:srcRect xmlns:a="http://schemas.openxmlformats.org/drawingml/2006/main" l="1842" t="12000" r="83425" b="12000"/>
          <a:stretch xmlns:a="http://schemas.openxmlformats.org/drawingml/2006/main"/>
        </p:blipFill>
        <p:spPr>
          <a:xfrm xmlns:a="http://schemas.openxmlformats.org/drawingml/2006/main">
            <a:off x="2935393" y="3767455"/>
            <a:ext cx="781050" cy="1024043"/>
          </a:xfrm>
          <a:prstGeom xmlns:a="http://schemas.openxmlformats.org/drawingml/2006/main" prst="rect">
            <a:avLst/>
          </a:prstGeom>
        </p:spPr>
      </p:pic>
      <p:sp>
        <p:nvSpPr>
          <p:cNvPr id="22" name="text-Scout">
            <a:extLst xmlns:a="http://schemas.openxmlformats.org/drawingml/2006/main">
              <a:ext uri="{FF2B5EF4-FFF2-40B4-BE49-F238E27FC236}">
                <a16:creationId xmlns:a16="http://schemas.microsoft.com/office/drawing/2014/main" id="{00EA158A-CEA0-4BA5-914E-AF2D923D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97" y="3888952"/>
            <a:ext cx="1909233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Scout</a:t>
            </a:r>
          </a:p>
        </p:txBody>
      </p:sp>
      <p:sp>
        <p:nvSpPr>
          <p:cNvPr id="23" name="text-Working">
            <a:extLst xmlns:a="http://schemas.openxmlformats.org/drawingml/2006/main">
              <a:ext uri="{FF2B5EF4-FFF2-40B4-BE49-F238E27FC236}">
                <a16:creationId xmlns:a16="http://schemas.microsoft.com/office/drawing/2014/main" id="{1C614D95-2BAB-49FF-968E-1668AAD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97" y="4444365"/>
            <a:ext cx="1909233" cy="31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Working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3741CC46-DE39-4F1A-AB7D-749B8DFA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80672"/>
            <a:ext cx="3037417" cy="1232323"/>
          </a:xfrm>
          <a:prstGeom xmlns:a="http://schemas.openxmlformats.org/drawingml/2006/main" prst="roundRect">
            <a:avLst>
              <a:gd name="adj" fmla="val 927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4E9A7-D832-43D1-990D-474975507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86b89d8f84b8a"/>
          <a:srcRect xmlns:a="http://schemas.openxmlformats.org/drawingml/2006/main" l="16575" t="12000" r="64088" b="12000"/>
          <a:stretch xmlns:a="http://schemas.openxmlformats.org/drawingml/2006/main"/>
        </p:blipFill>
        <p:spPr>
          <a:xfrm xmlns:a="http://schemas.openxmlformats.org/drawingml/2006/main">
            <a:off x="6181090" y="3767455"/>
            <a:ext cx="781050" cy="1024043"/>
          </a:xfrm>
          <a:prstGeom xmlns:a="http://schemas.openxmlformats.org/drawingml/2006/main" prst="rect">
            <a:avLst/>
          </a:prstGeom>
        </p:spPr>
      </p:pic>
      <p:sp>
        <p:nvSpPr>
          <p:cNvPr id="26" name="text-Promoter">
            <a:extLst xmlns:a="http://schemas.openxmlformats.org/drawingml/2006/main">
              <a:ext uri="{FF2B5EF4-FFF2-40B4-BE49-F238E27FC236}">
                <a16:creationId xmlns:a16="http://schemas.microsoft.com/office/drawing/2014/main" id="{4549B7ED-15E7-4973-9497-7BE6C14D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993" y="3888952"/>
            <a:ext cx="1909233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Promoter</a:t>
            </a:r>
          </a:p>
        </p:txBody>
      </p:sp>
      <p:sp>
        <p:nvSpPr>
          <p:cNvPr id="27" name="text-Draft ready">
            <a:extLst xmlns:a="http://schemas.openxmlformats.org/drawingml/2006/main">
              <a:ext uri="{FF2B5EF4-FFF2-40B4-BE49-F238E27FC236}">
                <a16:creationId xmlns:a16="http://schemas.microsoft.com/office/drawing/2014/main" id="{947D11E0-64A2-420A-8070-13DE5B72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993" y="4444365"/>
            <a:ext cx="1909233" cy="31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Draft ready</a:t>
            </a:r>
          </a:p>
        </p:txBody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5FCF1B09-DB13-4E38-944B-2F8013A3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647" y="3680672"/>
            <a:ext cx="3037417" cy="1232323"/>
          </a:xfrm>
          <a:prstGeom xmlns:a="http://schemas.openxmlformats.org/drawingml/2006/main" prst="roundRect">
            <a:avLst>
              <a:gd name="adj" fmla="val 927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E0449-44BE-4BB8-86A7-331D634CB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22b88891f49dc"/>
          <a:srcRect xmlns:a="http://schemas.openxmlformats.org/drawingml/2006/main" l="36372" t="12000" r="49816" b="12000"/>
          <a:stretch xmlns:a="http://schemas.openxmlformats.org/drawingml/2006/main"/>
        </p:blipFill>
        <p:spPr>
          <a:xfrm xmlns:a="http://schemas.openxmlformats.org/drawingml/2006/main">
            <a:off x="9426787" y="3767455"/>
            <a:ext cx="781050" cy="1024043"/>
          </a:xfrm>
          <a:prstGeom xmlns:a="http://schemas.openxmlformats.org/drawingml/2006/main" prst="rect">
            <a:avLst/>
          </a:prstGeom>
        </p:spPr>
      </p:pic>
      <p:sp>
        <p:nvSpPr>
          <p:cNvPr id="30" name="text-Sales">
            <a:extLst xmlns:a="http://schemas.openxmlformats.org/drawingml/2006/main">
              <a:ext uri="{FF2B5EF4-FFF2-40B4-BE49-F238E27FC236}">
                <a16:creationId xmlns:a16="http://schemas.microsoft.com/office/drawing/2014/main" id="{76AAD26D-45C2-43F3-AA44-C2603CE0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690" y="3888952"/>
            <a:ext cx="1909233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Sales</a:t>
            </a:r>
          </a:p>
        </p:txBody>
      </p:sp>
      <p:sp>
        <p:nvSpPr>
          <p:cNvPr id="31" name="text-Resting">
            <a:extLst xmlns:a="http://schemas.openxmlformats.org/drawingml/2006/main">
              <a:ext uri="{FF2B5EF4-FFF2-40B4-BE49-F238E27FC236}">
                <a16:creationId xmlns:a16="http://schemas.microsoft.com/office/drawing/2014/main" id="{07DC6974-3C85-4B73-9EAC-95846A7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690" y="4444365"/>
            <a:ext cx="1909233" cy="31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Resting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F3145EBC-0AA7-46C1-8E7A-ED207FC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253" y="5086562"/>
            <a:ext cx="3037417" cy="1232323"/>
          </a:xfrm>
          <a:prstGeom xmlns:a="http://schemas.openxmlformats.org/drawingml/2006/main" prst="roundRect">
            <a:avLst>
              <a:gd name="adj" fmla="val 927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20A60-D125-43B4-A176-3E371E728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9919d9741473a"/>
          <a:srcRect xmlns:a="http://schemas.openxmlformats.org/drawingml/2006/main" l="50368" t="12000" r="34162" b="12000"/>
          <a:stretch xmlns:a="http://schemas.openxmlformats.org/drawingml/2006/main"/>
        </p:blipFill>
        <p:spPr>
          <a:xfrm xmlns:a="http://schemas.openxmlformats.org/drawingml/2006/main">
            <a:off x="2935393" y="5173345"/>
            <a:ext cx="781050" cy="1024043"/>
          </a:xfrm>
          <a:prstGeom xmlns:a="http://schemas.openxmlformats.org/drawingml/2006/main" prst="rect">
            <a:avLst/>
          </a:prstGeom>
        </p:spPr>
      </p:pic>
      <p:sp>
        <p:nvSpPr>
          <p:cNvPr id="34" name="text-Account Manager">
            <a:extLst xmlns:a="http://schemas.openxmlformats.org/drawingml/2006/main">
              <a:ext uri="{FF2B5EF4-FFF2-40B4-BE49-F238E27FC236}">
                <a16:creationId xmlns:a16="http://schemas.microsoft.com/office/drawing/2014/main" id="{E9AE83CE-F4D7-474F-8556-754BB4AB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97" y="5294842"/>
            <a:ext cx="1909233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Account Manager</a:t>
            </a:r>
          </a:p>
        </p:txBody>
      </p:sp>
      <p:sp>
        <p:nvSpPr>
          <p:cNvPr id="35" name="text-Waiting for input">
            <a:extLst xmlns:a="http://schemas.openxmlformats.org/drawingml/2006/main">
              <a:ext uri="{FF2B5EF4-FFF2-40B4-BE49-F238E27FC236}">
                <a16:creationId xmlns:a16="http://schemas.microsoft.com/office/drawing/2014/main" id="{73B5F788-5AB7-44D0-9D5E-DF6AA3EC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97" y="5850255"/>
            <a:ext cx="1909233" cy="31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Waiting for input</a:t>
            </a:r>
          </a:p>
        </p:txBody>
      </p:sp>
      <p:sp>
        <p:nvSpPr>
          <p:cNvPr id="36" name="surface">
            <a:extLst xmlns:a="http://schemas.openxmlformats.org/drawingml/2006/main">
              <a:ext uri="{FF2B5EF4-FFF2-40B4-BE49-F238E27FC236}">
                <a16:creationId xmlns:a16="http://schemas.microsoft.com/office/drawing/2014/main" id="{FBE75F18-00D3-4CFA-9620-AF145CAE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562"/>
            <a:ext cx="3037417" cy="1232323"/>
          </a:xfrm>
          <a:prstGeom xmlns:a="http://schemas.openxmlformats.org/drawingml/2006/main" prst="roundRect">
            <a:avLst>
              <a:gd name="adj" fmla="val 927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ABCEF2-76B5-44C5-BA42-66975E894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038460ab2457e"/>
          <a:srcRect xmlns:a="http://schemas.openxmlformats.org/drawingml/2006/main" l="66529" t="12000" r="18048" b="12000"/>
          <a:stretch xmlns:a="http://schemas.openxmlformats.org/drawingml/2006/main"/>
        </p:blipFill>
        <p:spPr>
          <a:xfrm xmlns:a="http://schemas.openxmlformats.org/drawingml/2006/main">
            <a:off x="6181090" y="5173345"/>
            <a:ext cx="781050" cy="1024043"/>
          </a:xfrm>
          <a:prstGeom xmlns:a="http://schemas.openxmlformats.org/drawingml/2006/main" prst="rect">
            <a:avLst/>
          </a:prstGeom>
        </p:spPr>
      </p:pic>
      <p:sp>
        <p:nvSpPr>
          <p:cNvPr id="38" name="text-Operations">
            <a:extLst xmlns:a="http://schemas.openxmlformats.org/drawingml/2006/main">
              <a:ext uri="{FF2B5EF4-FFF2-40B4-BE49-F238E27FC236}">
                <a16:creationId xmlns:a16="http://schemas.microsoft.com/office/drawing/2014/main" id="{428611A2-5B52-49F9-ADF2-8D2CD82D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993" y="5294842"/>
            <a:ext cx="1909233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Operations</a:t>
            </a:r>
          </a:p>
        </p:txBody>
      </p:sp>
      <p:sp>
        <p:nvSpPr>
          <p:cNvPr id="39" name="text-Awaiting approval">
            <a:extLst xmlns:a="http://schemas.openxmlformats.org/drawingml/2006/main">
              <a:ext uri="{FF2B5EF4-FFF2-40B4-BE49-F238E27FC236}">
                <a16:creationId xmlns:a16="http://schemas.microsoft.com/office/drawing/2014/main" id="{539FD2C1-BCA2-4235-8AFB-5E83D8E6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993" y="5850255"/>
            <a:ext cx="1909233" cy="31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Awaiting approval</a:t>
            </a:r>
          </a:p>
        </p:txBody>
      </p:sp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04F7A5A4-22C5-4CD8-838F-8704975F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647" y="5086562"/>
            <a:ext cx="3037417" cy="1232323"/>
          </a:xfrm>
          <a:prstGeom xmlns:a="http://schemas.openxmlformats.org/drawingml/2006/main" prst="roundRect">
            <a:avLst>
              <a:gd name="adj" fmla="val 927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335D9D-A066-4728-AA2C-FD428004C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aa2364e174b77"/>
          <a:srcRect xmlns:a="http://schemas.openxmlformats.org/drawingml/2006/main" l="82873" t="12000" r="1473" b="12000"/>
          <a:stretch xmlns:a="http://schemas.openxmlformats.org/drawingml/2006/main"/>
        </p:blipFill>
        <p:spPr>
          <a:xfrm xmlns:a="http://schemas.openxmlformats.org/drawingml/2006/main">
            <a:off x="9426787" y="5173345"/>
            <a:ext cx="781050" cy="1024043"/>
          </a:xfrm>
          <a:prstGeom xmlns:a="http://schemas.openxmlformats.org/drawingml/2006/main" prst="rect">
            <a:avLst/>
          </a:prstGeom>
        </p:spPr>
      </p:pic>
      <p:sp>
        <p:nvSpPr>
          <p:cNvPr id="42" name="text-Finance">
            <a:extLst xmlns:a="http://schemas.openxmlformats.org/drawingml/2006/main">
              <a:ext uri="{FF2B5EF4-FFF2-40B4-BE49-F238E27FC236}">
                <a16:creationId xmlns:a16="http://schemas.microsoft.com/office/drawing/2014/main" id="{1AD1E442-D828-46F9-8A0C-AD10BB32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690" y="5294842"/>
            <a:ext cx="1909233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23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Finance</a:t>
            </a:r>
          </a:p>
        </p:txBody>
      </p:sp>
      <p:sp>
        <p:nvSpPr>
          <p:cNvPr id="43" name="text-Resting">
            <a:extLst xmlns:a="http://schemas.openxmlformats.org/drawingml/2006/main">
              <a:ext uri="{FF2B5EF4-FFF2-40B4-BE49-F238E27FC236}">
                <a16:creationId xmlns:a16="http://schemas.microsoft.com/office/drawing/2014/main" id="{BAE8D578-3ABD-4A77-BE81-F70D5DA7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690" y="5850255"/>
            <a:ext cx="1909233" cy="31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Resting</a:t>
            </a:r>
          </a:p>
        </p:txBody>
      </p:sp>
      <p:sp>
        <p:nvSpPr>
          <p:cNvPr id="44" name="text-Every specialist retains">
            <a:extLst xmlns:a="http://schemas.openxmlformats.org/drawingml/2006/main">
              <a:ext uri="{FF2B5EF4-FFF2-40B4-BE49-F238E27FC236}">
                <a16:creationId xmlns:a16="http://schemas.microsoft.com/office/drawing/2014/main" id="{4891383B-747A-406A-A858-DAF78F10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Every specialist retains a stable silhouette, role name and tint. State is written separately. Show “Resting” when no task is active. Illustration direction studies appear in this example.</a:t>
            </a:r>
          </a:p>
        </p:txBody>
      </p:sp>
    </p:spTree>
    <p:extLst>
      <p:ext uri="{BB962C8B-B14F-4D97-AF65-F5344CB8AC3E}">
        <p14:creationId xmlns:p14="http://schemas.microsoft.com/office/powerpoint/2010/main" val="16600151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4C99AFBE-8262-43CD-A579-6A95506B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Proposal and invoice hea">
            <a:extLst xmlns:a="http://schemas.openxmlformats.org/drawingml/2006/main">
              <a:ext uri="{FF2B5EF4-FFF2-40B4-BE49-F238E27FC236}">
                <a16:creationId xmlns:a16="http://schemas.microsoft.com/office/drawing/2014/main" id="{D43DC8BC-BA0E-40FC-93B9-A4CD5173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Proposal and invoice headers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CF75A8B-7784-4AAA-9DBA-787288A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7CFCF15C-F5C9-484A-8AD2-0DAFAF29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FB6D00B3-77C3-4223-8549-5913BFC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0C89A675-659E-49D4-91CD-B58AF22A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905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7" name="text-Noor Studio">
            <a:extLst xmlns:a="http://schemas.openxmlformats.org/drawingml/2006/main">
              <a:ext uri="{FF2B5EF4-FFF2-40B4-BE49-F238E27FC236}">
                <a16:creationId xmlns:a16="http://schemas.microsoft.com/office/drawing/2014/main" id="{5B88F3BD-554D-4286-A4EB-375BEE1F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Noor Studio</a:t>
            </a:r>
          </a:p>
        </p:txBody>
      </p:sp>
      <p:sp>
        <p:nvSpPr>
          <p:cNvPr id="8" name="text-Business support by">
            <a:extLst xmlns:a="http://schemas.openxmlformats.org/drawingml/2006/main">
              <a:ext uri="{FF2B5EF4-FFF2-40B4-BE49-F238E27FC236}">
                <a16:creationId xmlns:a16="http://schemas.microsoft.com/office/drawing/2014/main" id="{621C05C5-55EC-4836-A782-D0F9A67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Business support by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C5D05-5972-47DA-BCAA-8360F8BE62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e0e8a1ce74791">
            <a:extLst>
              <a:ext uri="{96DAC541-7B7A-43D3-8B79-37D633B846F1}">
                <asvg:svgBlip xmlns:asvg="http://schemas.microsoft.com/office/drawing/2016/SVG/main" r:embed="R7281253450284d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8009" y="2933700"/>
            <a:ext cx="2143125" cy="569951"/>
          </a:xfrm>
          <a:prstGeom xmlns:a="http://schemas.openxmlformats.org/drawingml/2006/main" prst="rect">
            <a:avLst/>
          </a:prstGeom>
        </p:spPr>
      </p:pic>
      <p:sp>
        <p:nvSpPr>
          <p:cNvPr id="10" name="text-PROPOSAL">
            <a:extLst xmlns:a="http://schemas.openxmlformats.org/drawingml/2006/main">
              <a:ext uri="{FF2B5EF4-FFF2-40B4-BE49-F238E27FC236}">
                <a16:creationId xmlns:a16="http://schemas.microsoft.com/office/drawing/2014/main" id="{E9983654-2395-4716-A9AD-490AFC27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PROPOSAL</a:t>
            </a:r>
          </a:p>
        </p:txBody>
      </p:sp>
      <p:sp>
        <p:nvSpPr>
          <p:cNvPr id="11" name="text-Prepared for Cedar Studi">
            <a:extLst xmlns:a="http://schemas.openxmlformats.org/drawingml/2006/main">
              <a:ext uri="{FF2B5EF4-FFF2-40B4-BE49-F238E27FC236}">
                <a16:creationId xmlns:a16="http://schemas.microsoft.com/office/drawing/2014/main" id="{52EA89E7-732F-4F60-AF6B-872E98A0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Prepared for Cedar Studio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9AD965B8-3179-4ED5-AE8A-7B95ACBD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85EADBE-6EE4-4643-BE03-284BE826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5905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4" name="text-Noor Studio">
            <a:extLst xmlns:a="http://schemas.openxmlformats.org/drawingml/2006/main">
              <a:ext uri="{FF2B5EF4-FFF2-40B4-BE49-F238E27FC236}">
                <a16:creationId xmlns:a16="http://schemas.microsoft.com/office/drawing/2014/main" id="{560B7D1C-71D4-4CDF-82F2-E221F015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050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Noor Studio</a:t>
            </a:r>
          </a:p>
        </p:txBody>
      </p:sp>
      <p:sp>
        <p:nvSpPr>
          <p:cNvPr id="15" name="text-Business support by">
            <a:extLst xmlns:a="http://schemas.openxmlformats.org/drawingml/2006/main">
              <a:ext uri="{FF2B5EF4-FFF2-40B4-BE49-F238E27FC236}">
                <a16:creationId xmlns:a16="http://schemas.microsoft.com/office/drawing/2014/main" id="{FA299BA8-87C7-4469-A699-9189F29C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051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Business support by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E37B4-B697-4212-9E06-919C00E2D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eb8dbf9524feb">
            <a:extLst>
              <a:ext uri="{96DAC541-7B7A-43D3-8B79-37D633B846F1}">
                <asvg:svgBlip xmlns:asvg="http://schemas.microsoft.com/office/drawing/2016/SVG/main" r:embed="R64b27559c29f40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39309" y="2933700"/>
            <a:ext cx="2143125" cy="569951"/>
          </a:xfrm>
          <a:prstGeom xmlns:a="http://schemas.openxmlformats.org/drawingml/2006/main" prst="rect">
            <a:avLst/>
          </a:prstGeom>
        </p:spPr>
      </p:pic>
      <p:sp>
        <p:nvSpPr>
          <p:cNvPr id="17" name="text-INVOICE">
            <a:extLst xmlns:a="http://schemas.openxmlformats.org/drawingml/2006/main">
              <a:ext uri="{FF2B5EF4-FFF2-40B4-BE49-F238E27FC236}">
                <a16:creationId xmlns:a16="http://schemas.microsoft.com/office/drawing/2014/main" id="{F4FF29E1-97F1-435B-97B0-E49C1ED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05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INVOICE</a:t>
            </a:r>
          </a:p>
        </p:txBody>
      </p:sp>
      <p:sp>
        <p:nvSpPr>
          <p:cNvPr id="18" name="text-Prepared for Cedar Studi">
            <a:extLst xmlns:a="http://schemas.openxmlformats.org/drawingml/2006/main">
              <a:ext uri="{FF2B5EF4-FFF2-40B4-BE49-F238E27FC236}">
                <a16:creationId xmlns:a16="http://schemas.microsoft.com/office/drawing/2014/main" id="{3393B9D9-7C20-4F56-8B57-767CF395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9575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Prepared for Cedar Studio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B30DD785-E923-4A3C-BE3E-DBF8C491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291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20" name="text-Motion design / 2 assets">
            <a:extLst xmlns:a="http://schemas.openxmlformats.org/drawingml/2006/main">
              <a:ext uri="{FF2B5EF4-FFF2-40B4-BE49-F238E27FC236}">
                <a16:creationId xmlns:a16="http://schemas.microsoft.com/office/drawing/2014/main" id="{9B7C5DCB-C61E-4BBA-9EF3-CD9C87B8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504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Motion design / 2 assets</a:t>
            </a:r>
          </a:p>
          <a:p xmlns:a="http://schemas.openxmlformats.org/drawingml/2006/main">
            <a: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Proposed fee: USD 450</a:t>
            </a:r>
          </a:p>
          <a:p xmlns:a="http://schemas.openxmlformats.org/drawingml/2006/main">
            <a: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Owner approval before sending</a:t>
            </a:r>
          </a:p>
        </p:txBody>
      </p:sp>
      <p:sp>
        <p:nvSpPr>
          <p:cNvPr id="21" name="text-Invoice example CM-001&#10;D">
            <a:extLst xmlns:a="http://schemas.openxmlformats.org/drawingml/2006/main">
              <a:ext uri="{FF2B5EF4-FFF2-40B4-BE49-F238E27FC236}">
                <a16:creationId xmlns:a16="http://schemas.microsoft.com/office/drawing/2014/main" id="{7280BB20-1E3F-4E5E-9878-03D90BB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86325"/>
            <a:ext cx="504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Invoice example CM-001</a:t>
            </a:r>
          </a:p>
          <a:p xmlns:a="http://schemas.openxmlformats.org/drawingml/2006/main">
            <a: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Deposit 60%: USD 270</a:t>
            </a:r>
          </a:p>
          <a:p xmlns:a="http://schemas.openxmlformats.org/drawingml/2006/main">
            <a: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Remaining gross balance: USD 180</a:t>
            </a:r>
          </a:p>
        </p:txBody>
      </p:sp>
      <p:sp>
        <p:nvSpPr>
          <p:cNvPr id="22" name="text-Use the freelancer’s ide">
            <a:extLst xmlns:a="http://schemas.openxmlformats.org/drawingml/2006/main">
              <a:ext uri="{FF2B5EF4-FFF2-40B4-BE49-F238E27FC236}">
                <a16:creationId xmlns:a16="http://schemas.microsoft.com/office/drawing/2014/main" id="{A1DE7B2F-DB7C-4B82-903C-58CCB558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Use the freelancer’s identity as the service provider. Crewmori may identify the supporting business team. On A4, use a primary logo canvas at least 45 mm wide. Sample data only.</a:t>
            </a:r>
          </a:p>
        </p:txBody>
      </p:sp>
    </p:spTree>
    <p:extLst>
      <p:ext uri="{BB962C8B-B14F-4D97-AF65-F5344CB8AC3E}">
        <p14:creationId xmlns:p14="http://schemas.microsoft.com/office/powerpoint/2010/main" val="19505266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E06B02E7-2248-42A2-BDB6-F50A6253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Social profile and socia">
            <a:extLst xmlns:a="http://schemas.openxmlformats.org/drawingml/2006/main">
              <a:ext uri="{FF2B5EF4-FFF2-40B4-BE49-F238E27FC236}">
                <a16:creationId xmlns:a16="http://schemas.microsoft.com/office/drawing/2014/main" id="{481084C4-613B-4F3A-896A-26D3299E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Social profile and social posts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7DC8C32-418F-47E4-A152-BD3D6EE1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BFDD2F34-E5F6-4F5B-8507-06C1E700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4">
            <a:extLst xmlns:a="http://schemas.openxmlformats.org/drawingml/2006/main">
              <a:ext uri="{FF2B5EF4-FFF2-40B4-BE49-F238E27FC236}">
                <a16:creationId xmlns:a16="http://schemas.microsoft.com/office/drawing/2014/main" id="{F86A27F7-7CC7-4337-A958-79140D0F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E5D3F-2918-46F8-AD12-BF792B9AB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918533c05475c"/>
          <a:stretch xmlns:a="http://schemas.openxmlformats.org/drawingml/2006/main"/>
        </p:blipFill>
        <p:spPr>
          <a:xfrm xmlns:a="http://schemas.openxmlformats.org/drawingml/2006/main">
            <a:off x="609600" y="22669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text-Profile image">
            <a:extLst xmlns:a="http://schemas.openxmlformats.org/drawingml/2006/main">
              <a:ext uri="{FF2B5EF4-FFF2-40B4-BE49-F238E27FC236}">
                <a16:creationId xmlns:a16="http://schemas.microsoft.com/office/drawing/2014/main" id="{6DF13A5D-A879-4562-B6AB-F43A99A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Profile image</a:t>
            </a:r>
          </a:p>
        </p:txBody>
      </p:sp>
      <p:sp>
        <p:nvSpPr>
          <p:cNvPr id="8" name="text-Centered supplied tile.&#10;">
            <a:extLst xmlns:a="http://schemas.openxmlformats.org/drawingml/2006/main">
              <a:ext uri="{FF2B5EF4-FFF2-40B4-BE49-F238E27FC236}">
                <a16:creationId xmlns:a16="http://schemas.microsoft.com/office/drawing/2014/main" id="{B29DE80B-0555-47F0-BAFA-6549E541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Centered supplied tile.</a:t>
            </a:r>
          </a:p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No extra text or character.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0BE171DD-4386-439A-B078-ED3C0C01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6215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C1877-FE25-4B19-9B92-72492ACF09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b937f22964219">
            <a:extLst>
              <a:ext uri="{96DAC541-7B7A-43D3-8B79-37D633B846F1}">
                <asvg:svgBlip xmlns:asvg="http://schemas.microsoft.com/office/drawing/2016/SVG/main" r:embed="R67ecccb1de1449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91259" y="2114550"/>
            <a:ext cx="2143125" cy="569951"/>
          </a:xfrm>
          <a:prstGeom xmlns:a="http://schemas.openxmlformats.org/drawingml/2006/main" prst="rect">
            <a:avLst/>
          </a:prstGeom>
        </p:spPr>
      </p:pic>
      <p:sp>
        <p:nvSpPr>
          <p:cNvPr id="11" name="text-Your business.&#10;Your team">
            <a:extLst xmlns:a="http://schemas.openxmlformats.org/drawingml/2006/main">
              <a:ext uri="{FF2B5EF4-FFF2-40B4-BE49-F238E27FC236}">
                <a16:creationId xmlns:a16="http://schemas.microsoft.com/office/drawing/2014/main" id="{1947DB9D-931B-422E-A379-1980950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0425"/>
            <a:ext cx="3448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2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business.</a:t>
            </a:r>
          </a:p>
          <a:p xmlns:a="http://schemas.openxmlformats.org/drawingml/2006/main">
            <a:pPr algn="l">
              <a:defRPr sz="32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2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team.</a:t>
            </a:r>
          </a:p>
        </p:txBody>
      </p:sp>
      <p:sp>
        <p:nvSpPr>
          <p:cNvPr id="12" name="text-Crewmori">
            <a:extLst xmlns:a="http://schemas.openxmlformats.org/drawingml/2006/main">
              <a:ext uri="{FF2B5EF4-FFF2-40B4-BE49-F238E27FC236}">
                <a16:creationId xmlns:a16="http://schemas.microsoft.com/office/drawing/2014/main" id="{BC905876-3B55-4757-883F-34A7EE44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244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DDA5A76-FDCF-4FD2-8430-248A37D6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4686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9B5F3-D15C-451F-ACCB-A1E41158EB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f85637ecd47ff">
            <a:extLst>
              <a:ext uri="{96DAC541-7B7A-43D3-8B79-37D633B846F1}">
                <asvg:svgBlip xmlns:asvg="http://schemas.microsoft.com/office/drawing/2016/SVG/main" r:embed="Re9bcbc467ec1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20409" y="2114550"/>
            <a:ext cx="2143125" cy="569951"/>
          </a:xfrm>
          <a:prstGeom xmlns:a="http://schemas.openxmlformats.org/drawingml/2006/main" prst="rect">
            <a:avLst/>
          </a:prstGeom>
        </p:spPr>
      </p:pic>
      <p:sp>
        <p:nvSpPr>
          <p:cNvPr id="15" name="text-Make room&#10;for your work.">
            <a:extLst xmlns:a="http://schemas.openxmlformats.org/drawingml/2006/main">
              <a:ext uri="{FF2B5EF4-FFF2-40B4-BE49-F238E27FC236}">
                <a16:creationId xmlns:a16="http://schemas.microsoft.com/office/drawing/2014/main" id="{1F1FD009-86AD-4129-AD03-4E3798E5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0425"/>
            <a:ext cx="4000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322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Make room</a:t>
            </a:r>
          </a:p>
          <a:p xmlns:a="http://schemas.openxmlformats.org/drawingml/2006/main">
            <a:pPr algn="l">
              <a:defRPr sz="322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322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for your work.</a:t>
            </a:r>
          </a:p>
        </p:txBody>
      </p:sp>
      <p:sp>
        <p:nvSpPr>
          <p:cNvPr id="16" name="text-A team behind your busin">
            <a:extLst xmlns:a="http://schemas.openxmlformats.org/drawingml/2006/main">
              <a:ext uri="{FF2B5EF4-FFF2-40B4-BE49-F238E27FC236}">
                <a16:creationId xmlns:a16="http://schemas.microsoft.com/office/drawing/2014/main" id="{DCF1EAF7-082F-48A0-A800-CF55E5FD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244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A team behind your business.</a:t>
            </a:r>
          </a:p>
        </p:txBody>
      </p:sp>
      <p:sp>
        <p:nvSpPr>
          <p:cNvPr id="17" name="text-Posts keep the logo at t">
            <a:extLst xmlns:a="http://schemas.openxmlformats.org/drawingml/2006/main">
              <a:ext uri="{FF2B5EF4-FFF2-40B4-BE49-F238E27FC236}">
                <a16:creationId xmlns:a16="http://schemas.microsoft.com/office/drawing/2014/main" id="{339D601A-5920-49B9-893F-7EDE211E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Posts keep the logo at the upper left, outside copy and imagery. Use solid approved backgrounds. Preserve at least x or 5% of the short edge as the outer margin.</a:t>
            </a:r>
          </a:p>
        </p:txBody>
      </p:sp>
    </p:spTree>
    <p:extLst>
      <p:ext uri="{BB962C8B-B14F-4D97-AF65-F5344CB8AC3E}">
        <p14:creationId xmlns:p14="http://schemas.microsoft.com/office/powerpoint/2010/main" val="3768911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C1E4C679-09DF-4914-A8B4-C477166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Presentation cover">
            <a:extLst xmlns:a="http://schemas.openxmlformats.org/drawingml/2006/main">
              <a:ext uri="{FF2B5EF4-FFF2-40B4-BE49-F238E27FC236}">
                <a16:creationId xmlns:a16="http://schemas.microsoft.com/office/drawing/2014/main" id="{D31201DB-AA44-40F9-8541-6B2F6EC2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Presentation cover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E6A6ACC-4C23-4855-8A1F-81316388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26F95F68-D095-4169-8048-BB652B41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5">
            <a:extLst xmlns:a="http://schemas.openxmlformats.org/drawingml/2006/main">
              <a:ext uri="{FF2B5EF4-FFF2-40B4-BE49-F238E27FC236}">
                <a16:creationId xmlns:a16="http://schemas.microsoft.com/office/drawing/2014/main" id="{ABC87FD3-520F-4390-AEE7-DDBA0AAF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B4809D39-144E-49F4-BE64-65CC5A3B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24968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5CFF-0748-4EA2-8298-571AEFFB1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5da18c937454b">
            <a:extLst>
              <a:ext uri="{96DAC541-7B7A-43D3-8B79-37D633B846F1}">
                <asvg:svgBlip xmlns:asvg="http://schemas.microsoft.com/office/drawing/2016/SVG/main" r:embed="R33e2075657aa4d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8903" y="2114550"/>
            <a:ext cx="3238500" cy="861259"/>
          </a:xfrm>
          <a:prstGeom xmlns:a="http://schemas.openxmlformats.org/drawingml/2006/main" prst="rect">
            <a:avLst/>
          </a:prstGeom>
        </p:spPr>
      </p:pic>
      <p:sp>
        <p:nvSpPr>
          <p:cNvPr id="8" name="text-A team behind&#10;independen">
            <a:extLst xmlns:a="http://schemas.openxmlformats.org/drawingml/2006/main">
              <a:ext uri="{FF2B5EF4-FFF2-40B4-BE49-F238E27FC236}">
                <a16:creationId xmlns:a16="http://schemas.microsoft.com/office/drawing/2014/main" id="{74550636-147E-42D2-AC37-99B5A176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10490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45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45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A team behind</a:t>
            </a:r>
          </a:p>
          <a:p xmlns:a="http://schemas.openxmlformats.org/drawingml/2006/main">
            <a:pPr algn="l">
              <a:defRPr sz="45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45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independent work</a:t>
            </a:r>
          </a:p>
        </p:txBody>
      </p:sp>
      <p:sp>
        <p:nvSpPr>
          <p:cNvPr id="9" name="text-Presentation title / 202">
            <a:extLst xmlns:a="http://schemas.openxmlformats.org/drawingml/2006/main">
              <a:ext uri="{FF2B5EF4-FFF2-40B4-BE49-F238E27FC236}">
                <a16:creationId xmlns:a16="http://schemas.microsoft.com/office/drawing/2014/main" id="{5B7AFC68-93DE-4274-8BC2-E7E98FED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Presentation title / 2026</a:t>
            </a:r>
          </a:p>
        </p:txBody>
      </p:sp>
      <p:sp>
        <p:nvSpPr>
          <p:cNvPr id="10" name="text-Use one display headline">
            <a:extLst xmlns:a="http://schemas.openxmlformats.org/drawingml/2006/main">
              <a:ext uri="{FF2B5EF4-FFF2-40B4-BE49-F238E27FC236}">
                <a16:creationId xmlns:a16="http://schemas.microsoft.com/office/drawing/2014/main" id="{E16736F4-7A94-4C88-8BAB-94F400D7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Use one display headline, one supporting line and the primary logo. Keep the cover calm; preserve the same visible-artwork alignment as other formats.</a:t>
            </a:r>
          </a:p>
        </p:txBody>
      </p:sp>
    </p:spTree>
    <p:extLst>
      <p:ext uri="{BB962C8B-B14F-4D97-AF65-F5344CB8AC3E}">
        <p14:creationId xmlns:p14="http://schemas.microsoft.com/office/powerpoint/2010/main" val="15036729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2893A912-4416-4EFC-B197-1DD64AB2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Co-branding and connecte">
            <a:extLst xmlns:a="http://schemas.openxmlformats.org/drawingml/2006/main">
              <a:ext uri="{FF2B5EF4-FFF2-40B4-BE49-F238E27FC236}">
                <a16:creationId xmlns:a16="http://schemas.microsoft.com/office/drawing/2014/main" id="{78A1C005-F82A-44D4-BC75-CE8CF056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Co-branding and connected tools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335899E-CAC5-4122-8E8C-CBCE5CAA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A2FDD0BC-E3FD-4B0C-8D90-2974B127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8BCF0249-70FB-45E6-882B-CE011E85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376B0038-29B1-4ABE-B982-E91EDADA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24968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CB7D3-66C2-437C-919C-419024355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99ec726e04053">
            <a:extLst>
              <a:ext uri="{96DAC541-7B7A-43D3-8B79-37D633B846F1}">
                <asvg:svgBlip xmlns:asvg="http://schemas.microsoft.com/office/drawing/2016/SVG/main" r:embed="Ree41364469eb4a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2257425"/>
            <a:ext cx="3371850" cy="896723"/>
          </a:xfrm>
          <a:prstGeom xmlns:a="http://schemas.openxmlformats.org/drawingml/2006/main" prst="rect">
            <a:avLst/>
          </a:prstGeom>
        </p:spPr>
      </p:pic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E2CC4255-27D0-411A-B544-EF8395A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9" name="text-PARTNER">
            <a:extLst xmlns:a="http://schemas.openxmlformats.org/drawingml/2006/main">
              <a:ext uri="{FF2B5EF4-FFF2-40B4-BE49-F238E27FC236}">
                <a16:creationId xmlns:a16="http://schemas.microsoft.com/office/drawing/2014/main" id="{D19DE82C-5972-44B7-BF58-9CB2D506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PARTNER</a:t>
            </a:r>
          </a:p>
        </p:txBody>
      </p:sp>
      <p:sp>
        <p:nvSpPr>
          <p:cNvPr id="10" name="text-Co-branded example">
            <a:extLst xmlns:a="http://schemas.openxmlformats.org/drawingml/2006/main">
              <a:ext uri="{FF2B5EF4-FFF2-40B4-BE49-F238E27FC236}">
                <a16:creationId xmlns:a16="http://schemas.microsoft.com/office/drawing/2014/main" id="{ED850BBF-0449-4475-898D-33B88E97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190875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Co-branded example</a:t>
            </a:r>
          </a:p>
        </p:txBody>
      </p:sp>
      <p:sp>
        <p:nvSpPr>
          <p:cNvPr id="11" name="text-Partnership">
            <a:extLst xmlns:a="http://schemas.openxmlformats.org/drawingml/2006/main">
              <a:ext uri="{FF2B5EF4-FFF2-40B4-BE49-F238E27FC236}">
                <a16:creationId xmlns:a16="http://schemas.microsoft.com/office/drawing/2014/main" id="{C40533EC-8E57-495D-AE8D-D33AF28C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Partnership</a:t>
            </a:r>
          </a:p>
        </p:txBody>
      </p:sp>
      <p:sp>
        <p:nvSpPr>
          <p:cNvPr id="12" name="text-Use approved partner art">
            <a:extLst xmlns:a="http://schemas.openxmlformats.org/drawingml/2006/main">
              <a:ext uri="{FF2B5EF4-FFF2-40B4-BE49-F238E27FC236}">
                <a16:creationId xmlns:a16="http://schemas.microsoft.com/office/drawing/2014/main" id="{69141967-C0F2-4FC7-B0ED-2B67F55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572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Use approved partner artwork. Match optical weight, respect both clear-space rules, and leave at least 2x between visible marks.</a:t>
            </a:r>
          </a:p>
        </p:txBody>
      </p:sp>
      <p:sp>
        <p:nvSpPr>
          <p:cNvPr id="13" name="text-Connected tools">
            <a:extLst xmlns:a="http://schemas.openxmlformats.org/drawingml/2006/main">
              <a:ext uri="{FF2B5EF4-FFF2-40B4-BE49-F238E27FC236}">
                <a16:creationId xmlns:a16="http://schemas.microsoft.com/office/drawing/2014/main" id="{072604B4-8766-4130-83B6-1280CF8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100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Connected tools</a:t>
            </a:r>
          </a:p>
        </p:txBody>
      </p:sp>
      <p:sp>
        <p:nvSpPr>
          <p:cNvPr id="14" name="text-Keep tool artwork separa">
            <a:extLst xmlns:a="http://schemas.openxmlformats.org/drawingml/2006/main">
              <a:ext uri="{FF2B5EF4-FFF2-40B4-BE49-F238E27FC236}">
                <a16:creationId xmlns:a16="http://schemas.microsoft.com/office/drawing/2014/main" id="{1D69E4B8-F398-41FC-A793-B7B43796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57750"/>
            <a:ext cx="561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Keep tool artwork separate and describe the actual connection. Support does not imply endorsement.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432A90F4-0619-4D09-A4BA-6B100D82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91200"/>
            <a:ext cx="5638800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D8EA4A23-95D7-40D9-893C-4759CAE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1502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66159"/>
            </a:solidFill>
            <a:prstDash val="solid"/>
          </a:ln>
        </p:spPr>
      </p:sp>
      <p:sp>
        <p:nvSpPr>
          <p:cNvPr id="17" name="text-Tool name">
            <a:extLst xmlns:a="http://schemas.openxmlformats.org/drawingml/2006/main">
              <a:ext uri="{FF2B5EF4-FFF2-40B4-BE49-F238E27FC236}">
                <a16:creationId xmlns:a16="http://schemas.microsoft.com/office/drawing/2014/main" id="{58C96A17-B16C-47BA-AC09-02A6C77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531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2A2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2A25"/>
                </a:solidFill>
                <a:latin typeface="DejaVu Sans"/>
                <a:ea typeface="DejaVu Sans"/>
                <a:cs typeface="DejaVu Sans"/>
              </a:rPr>
              <a:t>Tool name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071B461E-ACE0-4AC0-B363-167D5541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34075"/>
            <a:ext cx="1809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i  Connected">
            <a:extLst xmlns:a="http://schemas.openxmlformats.org/drawingml/2006/main">
              <a:ext uri="{FF2B5EF4-FFF2-40B4-BE49-F238E27FC236}">
                <a16:creationId xmlns:a16="http://schemas.microsoft.com/office/drawing/2014/main" id="{959A7432-D154-4145-BC29-57C9FDFC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81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55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55F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55F82"/>
                </a:solidFill>
                <a:latin typeface="DejaVu Sans"/>
                <a:ea typeface="DejaVu Sans"/>
                <a:cs typeface="DejaVu Sans"/>
              </a:rPr>
              <a:t>i  Connected</a:t>
            </a:r>
          </a:p>
        </p:txBody>
      </p:sp>
      <p:sp>
        <p:nvSpPr>
          <p:cNvPr id="20" name="text-PARTNER and Tool name ar">
            <a:extLst xmlns:a="http://schemas.openxmlformats.org/drawingml/2006/main">
              <a:ext uri="{FF2B5EF4-FFF2-40B4-BE49-F238E27FC236}">
                <a16:creationId xmlns:a16="http://schemas.microsoft.com/office/drawing/2014/main" id="{62350CC3-83F5-4D45-8CB0-85B8F0CA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PARTNER and Tool name are artwork placeholders; the connection state is illustrative. Connected-tool marks never form a combined Crewmori logo.</a:t>
            </a:r>
          </a:p>
        </p:txBody>
      </p:sp>
    </p:spTree>
    <p:extLst>
      <p:ext uri="{BB962C8B-B14F-4D97-AF65-F5344CB8AC3E}">
        <p14:creationId xmlns:p14="http://schemas.microsoft.com/office/powerpoint/2010/main" val="178046906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BFBF9ED2-4953-4E13-A475-C454BD1F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Horizontal, square and v">
            <a:extLst xmlns:a="http://schemas.openxmlformats.org/drawingml/2006/main">
              <a:ext uri="{FF2B5EF4-FFF2-40B4-BE49-F238E27FC236}">
                <a16:creationId xmlns:a16="http://schemas.microsoft.com/office/drawing/2014/main" id="{61C4E227-A3A3-4C80-97A1-CBF4E1A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Horizontal, square and vertical layouts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8C76AD8-8502-4CFF-9D7C-0253ECF9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F8DEE760-E74F-4FD8-9BA6-A6A194C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926EEE72-BD00-40AE-A20E-21C02469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3461BC00-9372-4F3F-B4AD-CF3649C7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905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F5396-B7C1-48F8-8138-11D3E73B9D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cd72dc16a4b13">
            <a:extLst>
              <a:ext uri="{96DAC541-7B7A-43D3-8B79-37D633B846F1}">
                <asvg:svgBlip xmlns:asvg="http://schemas.microsoft.com/office/drawing/2016/SVG/main" r:embed="Rd4c72ffd578843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185" y="2197640"/>
            <a:ext cx="2476500" cy="658610"/>
          </a:xfrm>
          <a:prstGeom xmlns:a="http://schemas.openxmlformats.org/drawingml/2006/main" prst="rect">
            <a:avLst/>
          </a:prstGeom>
        </p:spPr>
      </p:pic>
      <p:sp>
        <p:nvSpPr>
          <p:cNvPr id="8" name="text-Your team.&#10;Your work.">
            <a:extLst xmlns:a="http://schemas.openxmlformats.org/drawingml/2006/main">
              <a:ext uri="{FF2B5EF4-FFF2-40B4-BE49-F238E27FC236}">
                <a16:creationId xmlns:a16="http://schemas.microsoft.com/office/drawing/2014/main" id="{4ADFAA65-D379-42BF-83A2-7F975EE6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" y="3445383"/>
            <a:ext cx="5196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0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0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team.</a:t>
            </a:r>
          </a:p>
          <a:p xmlns:a="http://schemas.openxmlformats.org/drawingml/2006/main">
            <a:pPr algn="l">
              <a:defRPr sz="30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0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work.</a:t>
            </a:r>
          </a:p>
        </p:txBody>
      </p:sp>
      <p:sp>
        <p:nvSpPr>
          <p:cNvPr id="9" name="text-Horizontal">
            <a:extLst xmlns:a="http://schemas.openxmlformats.org/drawingml/2006/main">
              <a:ext uri="{FF2B5EF4-FFF2-40B4-BE49-F238E27FC236}">
                <a16:creationId xmlns:a16="http://schemas.microsoft.com/office/drawing/2014/main" id="{330AC7CE-EC1C-4779-9B2F-62E4EFCE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Horizontal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0B331CED-BFD5-4E21-99CF-B1FDE33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33147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DC712-4467-43D6-8BE5-21A85D3BE2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5973229a54afb">
            <a:extLst>
              <a:ext uri="{96DAC541-7B7A-43D3-8B79-37D633B846F1}">
                <asvg:svgBlip xmlns:asvg="http://schemas.microsoft.com/office/drawing/2016/SVG/main" r:embed="R0fc63806dd6b40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02837" y="2197640"/>
            <a:ext cx="2476500" cy="658610"/>
          </a:xfrm>
          <a:prstGeom xmlns:a="http://schemas.openxmlformats.org/drawingml/2006/main" prst="rect">
            <a:avLst/>
          </a:prstGeom>
        </p:spPr>
      </p:pic>
      <p:sp>
        <p:nvSpPr>
          <p:cNvPr id="12" name="text-Your team.&#10;Your work.">
            <a:extLst xmlns:a="http://schemas.openxmlformats.org/drawingml/2006/main">
              <a:ext uri="{FF2B5EF4-FFF2-40B4-BE49-F238E27FC236}">
                <a16:creationId xmlns:a16="http://schemas.microsoft.com/office/drawing/2014/main" id="{9355D56C-97F8-4BD6-A369-AAC5867C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582" y="3445383"/>
            <a:ext cx="2916936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1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261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61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team.</a:t>
            </a:r>
          </a:p>
          <a:p xmlns:a="http://schemas.openxmlformats.org/drawingml/2006/main">
            <a:pPr algn="l">
              <a:defRPr sz="261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2610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work.</a:t>
            </a:r>
          </a:p>
        </p:txBody>
      </p:sp>
      <p:sp>
        <p:nvSpPr>
          <p:cNvPr id="13" name="text-Square">
            <a:extLst xmlns:a="http://schemas.openxmlformats.org/drawingml/2006/main">
              <a:ext uri="{FF2B5EF4-FFF2-40B4-BE49-F238E27FC236}">
                <a16:creationId xmlns:a16="http://schemas.microsoft.com/office/drawing/2014/main" id="{3AF77D4D-5058-4CE1-B084-CEC2D8B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340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Square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B32B306-A886-4B92-90D3-5503BA4B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152650"/>
            <a:ext cx="21145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EDB1A-DEFB-48C4-BCAF-4439582BDC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c387ead7349d7">
            <a:extLst>
              <a:ext uri="{96DAC541-7B7A-43D3-8B79-37D633B846F1}">
                <asvg:svgBlip xmlns:asvg="http://schemas.microsoft.com/office/drawing/2016/SVG/main" r:embed="R9f1f9e4a5bcb4b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338" y="2260907"/>
            <a:ext cx="1628204" cy="433011"/>
          </a:xfrm>
          <a:prstGeom xmlns:a="http://schemas.openxmlformats.org/drawingml/2006/main" prst="rect">
            <a:avLst/>
          </a:prstGeom>
        </p:spPr>
      </p:pic>
      <p:sp>
        <p:nvSpPr>
          <p:cNvPr id="16" name="text-Your team.&#10;Your work.">
            <a:extLst xmlns:a="http://schemas.openxmlformats.org/drawingml/2006/main">
              <a:ext uri="{FF2B5EF4-FFF2-40B4-BE49-F238E27FC236}">
                <a16:creationId xmlns:a16="http://schemas.microsoft.com/office/drawing/2014/main" id="{CF0C558B-09C6-4E2B-89BB-03FA743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723" y="3616261"/>
            <a:ext cx="1860804" cy="1501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6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166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166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team.</a:t>
            </a:r>
          </a:p>
          <a:p xmlns:a="http://schemas.openxmlformats.org/drawingml/2006/main">
            <a:pPr algn="l">
              <a:defRPr sz="166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166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Your work.</a:t>
            </a:r>
          </a:p>
        </p:txBody>
      </p:sp>
      <p:sp>
        <p:nvSpPr>
          <p:cNvPr id="17" name="text-Vertical">
            <a:extLst xmlns:a="http://schemas.openxmlformats.org/drawingml/2006/main">
              <a:ext uri="{FF2B5EF4-FFF2-40B4-BE49-F238E27FC236}">
                <a16:creationId xmlns:a16="http://schemas.microsoft.com/office/drawing/2014/main" id="{CC2991E1-E518-4B94-BBCD-3F7AD565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Vertical</a:t>
            </a:r>
          </a:p>
        </p:txBody>
      </p:sp>
      <p:sp>
        <p:nvSpPr>
          <p:cNvPr id="18" name="text-Outer margin = max(x, 5%">
            <a:extLst xmlns:a="http://schemas.openxmlformats.org/drawingml/2006/main">
              <a:ext uri="{FF2B5EF4-FFF2-40B4-BE49-F238E27FC236}">
                <a16:creationId xmlns:a16="http://schemas.microsoft.com/office/drawing/2014/main" id="{A63BDDF4-718C-40AE-BC28-12D5EDC9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Outer margin = max(x, 5% of the short edge). Keep the logo upper left, align visible artwork with the headline, and leave at least 25% free of content. Diagrams are schematic; apply minimum sizes to the final export.</a:t>
            </a:r>
          </a:p>
        </p:txBody>
      </p:sp>
    </p:spTree>
    <p:extLst>
      <p:ext uri="{BB962C8B-B14F-4D97-AF65-F5344CB8AC3E}">
        <p14:creationId xmlns:p14="http://schemas.microsoft.com/office/powerpoint/2010/main" val="104227586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APPLICATIONS">
            <a:extLst xmlns:a="http://schemas.openxmlformats.org/drawingml/2006/main">
              <a:ext uri="{FF2B5EF4-FFF2-40B4-BE49-F238E27FC236}">
                <a16:creationId xmlns:a16="http://schemas.microsoft.com/office/drawing/2014/main" id="{D356F687-2820-43DD-B170-BE57AB55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APPLICATIONS</a:t>
            </a:r>
          </a:p>
        </p:txBody>
      </p:sp>
      <p:sp>
        <p:nvSpPr>
          <p:cNvPr id="2" name="text-Light and dark brand app">
            <a:extLst xmlns:a="http://schemas.openxmlformats.org/drawingml/2006/main">
              <a:ext uri="{FF2B5EF4-FFF2-40B4-BE49-F238E27FC236}">
                <a16:creationId xmlns:a16="http://schemas.microsoft.com/office/drawing/2014/main" id="{6AB9333D-6445-4504-80BC-2B8956B2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Light and dark brand applications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F369DB2-1418-471B-A58C-CDD21AF8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D8363C0F-625B-4E54-BE71-DA9FEA28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0F6E721B-C31E-444E-8CC3-7165D762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84DF1B0-CB22-44E3-B60D-50B898E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905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4AC6B-4448-40F5-B706-41E6B31F8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2a59e9f3b49de">
            <a:extLst>
              <a:ext uri="{96DAC541-7B7A-43D3-8B79-37D633B846F1}">
                <asvg:svgBlip xmlns:asvg="http://schemas.microsoft.com/office/drawing/2016/SVG/main" r:embed="R940b318f377f43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9247" y="2200275"/>
            <a:ext cx="3143250" cy="835928"/>
          </a:xfrm>
          <a:prstGeom xmlns:a="http://schemas.openxmlformats.org/drawingml/2006/main" prst="rect">
            <a:avLst/>
          </a:prstGeom>
        </p:spPr>
      </p:pic>
      <p:sp>
        <p:nvSpPr>
          <p:cNvPr id="8" name="text-A clear place&#10;for your b">
            <a:extLst xmlns:a="http://schemas.openxmlformats.org/drawingml/2006/main">
              <a:ext uri="{FF2B5EF4-FFF2-40B4-BE49-F238E27FC236}">
                <a16:creationId xmlns:a16="http://schemas.microsoft.com/office/drawing/2014/main" id="{B303EE13-4C54-4E56-BABE-6720DC3E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A clear place</a:t>
            </a:r>
          </a:p>
          <a:p xmlns:a="http://schemas.openxmlformats.org/drawingml/2006/main">
            <a:pPr algn="l">
              <a:def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defRPr>
            </a:pPr>
            <a:r>
              <a:rPr sz="3375" b="0">
                <a:solidFill>
                  <a:srgbClr val="245C47"/>
                </a:solidFill>
                <a:latin typeface="DejaVu Serif"/>
                <a:ea typeface="DejaVu Serif"/>
                <a:cs typeface="DejaVu Serif"/>
              </a:rPr>
              <a:t>for your business.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1B065536-43E1-4606-B44C-09C0C28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5905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D1DC3-EC8E-40D3-A026-EDDA5B1289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22e3045644dc9">
            <a:extLst>
              <a:ext uri="{96DAC541-7B7A-43D3-8B79-37D633B846F1}">
                <asvg:svgBlip xmlns:asvg="http://schemas.microsoft.com/office/drawing/2016/SVG/main" r:embed="R3a7c5857023740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90547" y="2200275"/>
            <a:ext cx="3143250" cy="835928"/>
          </a:xfrm>
          <a:prstGeom xmlns:a="http://schemas.openxmlformats.org/drawingml/2006/main" prst="rect">
            <a:avLst/>
          </a:prstGeom>
        </p:spPr>
      </p:pic>
      <p:sp>
        <p:nvSpPr>
          <p:cNvPr id="11" name="text-A clear place&#10;for your b">
            <a:extLst xmlns:a="http://schemas.openxmlformats.org/drawingml/2006/main">
              <a:ext uri="{FF2B5EF4-FFF2-40B4-BE49-F238E27FC236}">
                <a16:creationId xmlns:a16="http://schemas.microsoft.com/office/drawing/2014/main" id="{94D57D31-6363-4886-A145-BCC5A4C6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71875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33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A clear place</a:t>
            </a:r>
          </a:p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3375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for your business.</a:t>
            </a:r>
          </a:p>
        </p:txBody>
      </p:sp>
      <p:sp>
        <p:nvSpPr>
          <p:cNvPr id="12" name="text-Forest supports brand co">
            <a:extLst xmlns:a="http://schemas.openxmlformats.org/drawingml/2006/main">
              <a:ext uri="{FF2B5EF4-FFF2-40B4-BE49-F238E27FC236}">
                <a16:creationId xmlns:a16="http://schemas.microsoft.com/office/drawing/2014/main" id="{3D6B1902-588F-4322-B29F-79F305FE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Forest supports brand covers, social posts and approved dark fields. These examples do not establish a separate dark product theme. The application’s reading surfaces remain ivory.</a:t>
            </a:r>
          </a:p>
        </p:txBody>
      </p:sp>
    </p:spTree>
    <p:extLst>
      <p:ext uri="{BB962C8B-B14F-4D97-AF65-F5344CB8AC3E}">
        <p14:creationId xmlns:p14="http://schemas.microsoft.com/office/powerpoint/2010/main" val="16513153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IMPLEMENTATION">
            <a:extLst xmlns:a="http://schemas.openxmlformats.org/drawingml/2006/main">
              <a:ext uri="{FF2B5EF4-FFF2-40B4-BE49-F238E27FC236}">
                <a16:creationId xmlns:a16="http://schemas.microsoft.com/office/drawing/2014/main" id="{54054FE7-99D8-434E-9D5D-4AD22A6E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IMPLEMENTATION</a:t>
            </a:r>
          </a:p>
        </p:txBody>
      </p:sp>
      <p:sp>
        <p:nvSpPr>
          <p:cNvPr id="2" name="text-Asset and implementation">
            <a:extLst xmlns:a="http://schemas.openxmlformats.org/drawingml/2006/main">
              <a:ext uri="{FF2B5EF4-FFF2-40B4-BE49-F238E27FC236}">
                <a16:creationId xmlns:a16="http://schemas.microsoft.com/office/drawing/2014/main" id="{1E851B57-A1FE-4559-9388-EC5C5B82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>
                <a:solidFill>
                  <a:srgbClr val="202A25"/>
                </a:solidFill>
                <a:latin typeface="DejaVu Serif"/>
                <a:ea typeface="DejaVu Serif"/>
                <a:cs typeface="DejaVu Serif"/>
              </a:rPr>
              <a:t>Asset and implementation map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57BFF2-EA30-4B1A-A7ED-40151D1B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3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01B0C035-DEB0-4E3F-9FE0-519B290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37192935-3BFB-461B-8545-E10BEAB5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24F65-9B23-4FEB-B491-0B1EEB4A0AD5}"/>
              </a:ext>
            </a:extLst>
          </p:cNvPr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2496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714875"/>
                <a:gridCol w="4829175"/>
              </a:tblGrid>
              <a:tr h="557893"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Implementation rule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T w="9525">
                      <a:solidFill>
                        <a:srgbClr val="D9DED3"/>
                      </a:solidFill>
                      <a:prstDash val="solid"/>
                    </a:lnT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245C47"/>
                    </a:solidFill>
                  </a:tcPr>
                </a:tc>
              </a:tr>
              <a:tr h="557893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Logo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assets/primary, stacked, symbol, wordmark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the supplied SVG or transparent PNG.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7893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Favicon and app icon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assets/favicon and assets/app-icon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the native-size export for its slot.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7893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Colors and type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tokens/crewmori-tokens.json and .css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Import tokens rather than sampling artwork.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7893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Editable guideline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guide/Crewmori_Brand_Guidelines.pptx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Install the included fonts before editing.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7893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 sources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source/ and assets/geometry.json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Preserve coordinates and linked file structure.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57893"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Future product work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D3"/>
                      </a:solidFill>
                      <a:prstDash val="solid"/>
                    </a:lnL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BRAND.md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Apply the same rules across screens.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D3"/>
                      </a:solidFill>
                      <a:prstDash val="solid"/>
                    </a:lnR>
                    <a:lnB w="9525">
                      <a:solidFill>
                        <a:srgbClr val="D9DED3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7" name="text-The complete package inc">
            <a:extLst xmlns:a="http://schemas.openxmlformats.org/drawingml/2006/main">
              <a:ext uri="{FF2B5EF4-FFF2-40B4-BE49-F238E27FC236}">
                <a16:creationId xmlns:a16="http://schemas.microsoft.com/office/drawing/2014/main" id="{FE770E2A-BF1A-457C-9277-51856131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249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159"/>
                </a:solidFill>
                <a:latin typeface="DejaVu Sans"/>
                <a:ea typeface="DejaVu Sans"/>
                <a:cs typeface="DejaVu Sans"/>
              </a:rPr>
              <a:t>The complete package includes this PDF, editable PowerPoint, vector masters, transparent exports, fonts and licenses, tokens, geometry and reproducible source files.</a:t>
            </a:r>
          </a:p>
        </p:txBody>
      </p:sp>
    </p:spTree>
    <p:extLst>
      <p:ext uri="{BB962C8B-B14F-4D97-AF65-F5344CB8AC3E}">
        <p14:creationId xmlns:p14="http://schemas.microsoft.com/office/powerpoint/2010/main" val="19965497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24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IMPLEMENTATION">
            <a:extLst xmlns:a="http://schemas.openxmlformats.org/drawingml/2006/main">
              <a:ext uri="{FF2B5EF4-FFF2-40B4-BE49-F238E27FC236}">
                <a16:creationId xmlns:a16="http://schemas.microsoft.com/office/drawing/2014/main" id="{A95F3266-7457-450A-AD8E-090E9009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IMPLEMENTATION</a:t>
            </a:r>
          </a:p>
        </p:txBody>
      </p:sp>
      <p:sp>
        <p:nvSpPr>
          <p:cNvPr id="2" name="text-">
            <a:extLst xmlns:a="http://schemas.openxmlformats.org/drawingml/2006/main">
              <a:ext uri="{FF2B5EF4-FFF2-40B4-BE49-F238E27FC236}">
                <a16:creationId xmlns:a16="http://schemas.microsoft.com/office/drawing/2014/main" id="{F2354814-330D-4898-AF5F-B10B2701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249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7F31ADB-B0A1-4B02-8A82-FD50C084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81850"/>
            <a:ext cx="1249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AA98"/>
            </a:solidFill>
            <a:prstDash val="solid"/>
          </a:ln>
        </p:spPr>
      </p:sp>
      <p:sp>
        <p:nvSpPr>
          <p:cNvPr id="4" name="text-Crewmori / Brand guideli">
            <a:extLst xmlns:a="http://schemas.openxmlformats.org/drawingml/2006/main">
              <a:ext uri="{FF2B5EF4-FFF2-40B4-BE49-F238E27FC236}">
                <a16:creationId xmlns:a16="http://schemas.microsoft.com/office/drawing/2014/main" id="{079BE90B-595C-48B8-BD39-22F78CA1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Crewmori / Brand guidelines</a:t>
            </a:r>
          </a:p>
        </p:txBody>
      </p:sp>
      <p:sp>
        <p:nvSpPr>
          <p:cNvPr id="5" name="text-40">
            <a:extLst xmlns:a="http://schemas.openxmlformats.org/drawingml/2006/main">
              <a:ext uri="{FF2B5EF4-FFF2-40B4-BE49-F238E27FC236}">
                <a16:creationId xmlns:a16="http://schemas.microsoft.com/office/drawing/2014/main" id="{188911E5-2E82-42D5-B7D0-43EEC455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9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364F3-06C5-4326-B198-4F8C87596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d5eb1fea54a77">
            <a:extLst>
              <a:ext uri="{96DAC541-7B7A-43D3-8B79-37D633B846F1}">
                <asvg:svgBlip xmlns:asvg="http://schemas.microsoft.com/office/drawing/2016/SVG/main" r:embed="R51b6f85b8e2648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6511" y="2143125"/>
            <a:ext cx="10572750" cy="2811757"/>
          </a:xfrm>
          <a:prstGeom xmlns:a="http://schemas.openxmlformats.org/drawingml/2006/main" prst="rect">
            <a:avLst/>
          </a:prstGeom>
        </p:spPr>
      </p:pic>
      <p:sp>
        <p:nvSpPr>
          <p:cNvPr id="7" name="text-Crewmori">
            <a:extLst xmlns:a="http://schemas.openxmlformats.org/drawingml/2006/main">
              <a:ext uri="{FF2B5EF4-FFF2-40B4-BE49-F238E27FC236}">
                <a16:creationId xmlns:a16="http://schemas.microsoft.com/office/drawing/2014/main" id="{BB07513A-5DB8-4785-9539-A31D0DDA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1334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 algn="l">
              <a:defRPr sz="43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defRPr>
            </a:pPr>
            <a:r>
              <a:rPr sz="4350" b="0">
                <a:solidFill>
                  <a:srgbClr val="FFFFFF"/>
                </a:solidFill>
                <a:latin typeface="DejaVu Serif"/>
                <a:ea typeface="DejaVu Serif"/>
                <a:cs typeface="DejaVu Serif"/>
              </a:rPr>
              <a:t>Crewmori</a:t>
            </a:r>
          </a:p>
        </p:txBody>
      </p:sp>
      <p:sp>
        <p:nvSpPr>
          <p:cNvPr id="8" name="text-Brand identity guideline">
            <a:extLst xmlns:a="http://schemas.openxmlformats.org/drawingml/2006/main">
              <a:ext uri="{FF2B5EF4-FFF2-40B4-BE49-F238E27FC236}">
                <a16:creationId xmlns:a16="http://schemas.microsoft.com/office/drawing/2014/main" id="{022EA4E6-FFF9-49C1-AB63-E2B3900C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5792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5F3E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5F3EC"/>
                </a:solidFill>
                <a:latin typeface="DejaVu Sans"/>
                <a:ea typeface="DejaVu Sans"/>
                <a:cs typeface="DejaVu Sans"/>
              </a:rPr>
              <a:t>Brand identity guidelines / Version 1.0 / October 2026</a:t>
            </a:r>
          </a:p>
        </p:txBody>
      </p:sp>
    </p:spTree>
    <p:extLst>
      <p:ext uri="{BB962C8B-B14F-4D97-AF65-F5344CB8AC3E}">
        <p14:creationId xmlns:p14="http://schemas.microsoft.com/office/powerpoint/2010/main" val="27600937"/>
      </p:ext>
    </p:extLst>
  </p:cSld>
</p:sld>
</file>

<file path=ppt/theme/theme1.xml><?xml version="1.0" encoding="utf-8"?>
<a:theme xmlns:a="http://schemas.openxmlformats.org/drawingml/2006/main" name="ChatGPT">
  <a:themeElements>
    <a:clrScheme name="Crewmori">
      <a:dk1>
        <a:srgbClr val="202A25"/>
      </a:dk1>
      <a:lt1>
        <a:srgbClr val="FFFFFF"/>
      </a:lt1>
      <a:dk2>
        <a:srgbClr val="245C47"/>
      </a:dk2>
      <a:lt2>
        <a:srgbClr val="F5F3EC"/>
      </a:lt2>
      <a:accent1>
        <a:srgbClr val="245C47"/>
      </a:accent1>
      <a:accent2>
        <a:srgbClr val="F2C983"/>
      </a:accent2>
      <a:accent3>
        <a:srgbClr val="EFAF9B"/>
      </a:accent3>
      <a:accent4>
        <a:srgbClr val="B9D8EC"/>
      </a:accent4>
      <a:accent5>
        <a:srgbClr val="D3C6E7"/>
      </a:accent5>
      <a:accent6>
        <a:srgbClr val="C6D4B5"/>
      </a:accent6>
      <a:hlink>
        <a:srgbClr val="245C47"/>
      </a:hlink>
      <a:folHlink>
        <a:srgbClr val="566159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rewmor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2026-10-16T08:24:56.9260000Z</dcterms:created>
  <dcterms:modified xsi:type="dcterms:W3CDTF">2026-10-16T08:24:56.9260000Z</dcterms:modified>
</coreProperties>
</file>